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p:scale>
          <a:sx n="50" d="100"/>
          <a:sy n="50" d="100"/>
        </p:scale>
        <p:origin x="2622" y="8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DD97E8E-B58A-44FA-A391-A1A06558F7CE}"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927F49-E609-4F63-AD1C-83DD44A6BC3D}" type="slidenum">
              <a:rPr lang="en-IN" smtClean="0"/>
              <a:t>‹#›</a:t>
            </a:fld>
            <a:endParaRPr lang="en-IN"/>
          </a:p>
        </p:txBody>
      </p:sp>
    </p:spTree>
    <p:extLst>
      <p:ext uri="{BB962C8B-B14F-4D97-AF65-F5344CB8AC3E}">
        <p14:creationId xmlns:p14="http://schemas.microsoft.com/office/powerpoint/2010/main" val="778469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DD97E8E-B58A-44FA-A391-A1A06558F7CE}"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927F49-E609-4F63-AD1C-83DD44A6BC3D}" type="slidenum">
              <a:rPr lang="en-IN" smtClean="0"/>
              <a:t>‹#›</a:t>
            </a:fld>
            <a:endParaRPr lang="en-IN"/>
          </a:p>
        </p:txBody>
      </p:sp>
    </p:spTree>
    <p:extLst>
      <p:ext uri="{BB962C8B-B14F-4D97-AF65-F5344CB8AC3E}">
        <p14:creationId xmlns:p14="http://schemas.microsoft.com/office/powerpoint/2010/main" val="120165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DD97E8E-B58A-44FA-A391-A1A06558F7CE}"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927F49-E609-4F63-AD1C-83DD44A6BC3D}" type="slidenum">
              <a:rPr lang="en-IN" smtClean="0"/>
              <a:t>‹#›</a:t>
            </a:fld>
            <a:endParaRPr lang="en-IN"/>
          </a:p>
        </p:txBody>
      </p:sp>
    </p:spTree>
    <p:extLst>
      <p:ext uri="{BB962C8B-B14F-4D97-AF65-F5344CB8AC3E}">
        <p14:creationId xmlns:p14="http://schemas.microsoft.com/office/powerpoint/2010/main" val="3589454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DD97E8E-B58A-44FA-A391-A1A06558F7CE}"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927F49-E609-4F63-AD1C-83DD44A6BC3D}" type="slidenum">
              <a:rPr lang="en-IN" smtClean="0"/>
              <a:t>‹#›</a:t>
            </a:fld>
            <a:endParaRPr lang="en-IN"/>
          </a:p>
        </p:txBody>
      </p:sp>
    </p:spTree>
    <p:extLst>
      <p:ext uri="{BB962C8B-B14F-4D97-AF65-F5344CB8AC3E}">
        <p14:creationId xmlns:p14="http://schemas.microsoft.com/office/powerpoint/2010/main" val="2818264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DD97E8E-B58A-44FA-A391-A1A06558F7CE}" type="datetimeFigureOut">
              <a:rPr lang="en-IN" smtClean="0"/>
              <a:t>28-02-2025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927F49-E609-4F63-AD1C-83DD44A6BC3D}" type="slidenum">
              <a:rPr lang="en-IN" smtClean="0"/>
              <a:t>‹#›</a:t>
            </a:fld>
            <a:endParaRPr lang="en-IN"/>
          </a:p>
        </p:txBody>
      </p:sp>
    </p:spTree>
    <p:extLst>
      <p:ext uri="{BB962C8B-B14F-4D97-AF65-F5344CB8AC3E}">
        <p14:creationId xmlns:p14="http://schemas.microsoft.com/office/powerpoint/2010/main" val="295185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DD97E8E-B58A-44FA-A391-A1A06558F7CE}" type="datetimeFigureOut">
              <a:rPr lang="en-IN" smtClean="0"/>
              <a:t>28-02-2025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927F49-E609-4F63-AD1C-83DD44A6BC3D}" type="slidenum">
              <a:rPr lang="en-IN" smtClean="0"/>
              <a:t>‹#›</a:t>
            </a:fld>
            <a:endParaRPr lang="en-IN"/>
          </a:p>
        </p:txBody>
      </p:sp>
    </p:spTree>
    <p:extLst>
      <p:ext uri="{BB962C8B-B14F-4D97-AF65-F5344CB8AC3E}">
        <p14:creationId xmlns:p14="http://schemas.microsoft.com/office/powerpoint/2010/main" val="582519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D97E8E-B58A-44FA-A391-A1A06558F7CE}" type="datetimeFigureOut">
              <a:rPr lang="en-IN" smtClean="0"/>
              <a:t>28-02-2025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927F49-E609-4F63-AD1C-83DD44A6BC3D}" type="slidenum">
              <a:rPr lang="en-IN" smtClean="0"/>
              <a:t>‹#›</a:t>
            </a:fld>
            <a:endParaRPr lang="en-IN"/>
          </a:p>
        </p:txBody>
      </p:sp>
    </p:spTree>
    <p:extLst>
      <p:ext uri="{BB962C8B-B14F-4D97-AF65-F5344CB8AC3E}">
        <p14:creationId xmlns:p14="http://schemas.microsoft.com/office/powerpoint/2010/main" val="2171538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DD97E8E-B58A-44FA-A391-A1A06558F7CE}"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927F49-E609-4F63-AD1C-83DD44A6BC3D}" type="slidenum">
              <a:rPr lang="en-IN" smtClean="0"/>
              <a:t>‹#›</a:t>
            </a:fld>
            <a:endParaRPr lang="en-IN"/>
          </a:p>
        </p:txBody>
      </p:sp>
    </p:spTree>
    <p:extLst>
      <p:ext uri="{BB962C8B-B14F-4D97-AF65-F5344CB8AC3E}">
        <p14:creationId xmlns:p14="http://schemas.microsoft.com/office/powerpoint/2010/main" val="470370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DD97E8E-B58A-44FA-A391-A1A06558F7CE}" type="datetimeFigureOut">
              <a:rPr lang="en-IN" smtClean="0"/>
              <a:t>28-02-2025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927F49-E609-4F63-AD1C-83DD44A6BC3D}" type="slidenum">
              <a:rPr lang="en-IN" smtClean="0"/>
              <a:t>‹#›</a:t>
            </a:fld>
            <a:endParaRPr lang="en-IN"/>
          </a:p>
        </p:txBody>
      </p:sp>
    </p:spTree>
    <p:extLst>
      <p:ext uri="{BB962C8B-B14F-4D97-AF65-F5344CB8AC3E}">
        <p14:creationId xmlns:p14="http://schemas.microsoft.com/office/powerpoint/2010/main" val="2218955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DD97E8E-B58A-44FA-A391-A1A06558F7CE}"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927F49-E609-4F63-AD1C-83DD44A6BC3D}" type="slidenum">
              <a:rPr lang="en-IN" smtClean="0"/>
              <a:t>‹#›</a:t>
            </a:fld>
            <a:endParaRPr lang="en-IN"/>
          </a:p>
        </p:txBody>
      </p:sp>
    </p:spTree>
    <p:extLst>
      <p:ext uri="{BB962C8B-B14F-4D97-AF65-F5344CB8AC3E}">
        <p14:creationId xmlns:p14="http://schemas.microsoft.com/office/powerpoint/2010/main" val="1617111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DD97E8E-B58A-44FA-A391-A1A06558F7CE}" type="datetimeFigureOut">
              <a:rPr lang="en-IN" smtClean="0"/>
              <a:t>28-02-2025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927F49-E609-4F63-AD1C-83DD44A6BC3D}" type="slidenum">
              <a:rPr lang="en-IN" smtClean="0"/>
              <a:t>‹#›</a:t>
            </a:fld>
            <a:endParaRPr lang="en-IN"/>
          </a:p>
        </p:txBody>
      </p:sp>
    </p:spTree>
    <p:extLst>
      <p:ext uri="{BB962C8B-B14F-4D97-AF65-F5344CB8AC3E}">
        <p14:creationId xmlns:p14="http://schemas.microsoft.com/office/powerpoint/2010/main" val="3241873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D97E8E-B58A-44FA-A391-A1A06558F7CE}" type="datetimeFigureOut">
              <a:rPr lang="en-IN" smtClean="0"/>
              <a:t>28-02-2025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927F49-E609-4F63-AD1C-83DD44A6BC3D}" type="slidenum">
              <a:rPr lang="en-IN" smtClean="0"/>
              <a:t>‹#›</a:t>
            </a:fld>
            <a:endParaRPr lang="en-IN"/>
          </a:p>
        </p:txBody>
      </p:sp>
    </p:spTree>
    <p:extLst>
      <p:ext uri="{BB962C8B-B14F-4D97-AF65-F5344CB8AC3E}">
        <p14:creationId xmlns:p14="http://schemas.microsoft.com/office/powerpoint/2010/main" val="3091354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not-gate/" TargetMode="External"/><Relationship Id="rId7"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hyperlink" Target="https://www.geeksforgeeks.org/logic-gates/"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B55E07-0D5E-9022-6D27-40470DD7535E}"/>
              </a:ext>
            </a:extLst>
          </p:cNvPr>
          <p:cNvSpPr/>
          <p:nvPr/>
        </p:nvSpPr>
        <p:spPr>
          <a:xfrm>
            <a:off x="-1276350" y="-419100"/>
            <a:ext cx="14611350" cy="76009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AEEA54E3-141C-8B9B-1621-B27C12BD7F18}"/>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119010" y="-38820"/>
            <a:ext cx="12935123" cy="12935123"/>
          </a:xfrm>
          <a:prstGeom prst="rect">
            <a:avLst/>
          </a:prstGeom>
        </p:spPr>
      </p:pic>
      <p:sp>
        <p:nvSpPr>
          <p:cNvPr id="10" name="Rectangle: Rounded Corners 9">
            <a:extLst>
              <a:ext uri="{FF2B5EF4-FFF2-40B4-BE49-F238E27FC236}">
                <a16:creationId xmlns:a16="http://schemas.microsoft.com/office/drawing/2014/main" id="{39199090-600F-6F46-921C-FE9CD3B552DD}"/>
              </a:ext>
            </a:extLst>
          </p:cNvPr>
          <p:cNvSpPr/>
          <p:nvPr/>
        </p:nvSpPr>
        <p:spPr>
          <a:xfrm>
            <a:off x="7657502" y="4499429"/>
            <a:ext cx="4171641" cy="1988457"/>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A1647288-2124-AABE-B8B2-ADF09DAB42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450" y="-38819"/>
            <a:ext cx="5197105" cy="6935638"/>
          </a:xfrm>
          <a:prstGeom prst="rect">
            <a:avLst/>
          </a:prstGeom>
        </p:spPr>
      </p:pic>
      <p:sp>
        <p:nvSpPr>
          <p:cNvPr id="4" name="TextBox 3"/>
          <p:cNvSpPr txBox="1"/>
          <p:nvPr/>
        </p:nvSpPr>
        <p:spPr>
          <a:xfrm>
            <a:off x="5315648" y="1979094"/>
            <a:ext cx="6340197" cy="707886"/>
          </a:xfrm>
          <a:prstGeom prst="rect">
            <a:avLst/>
          </a:prstGeom>
          <a:noFill/>
        </p:spPr>
        <p:txBody>
          <a:bodyPr wrap="none" rtlCol="0">
            <a:spAutoFit/>
          </a:bodyPr>
          <a:lstStyle/>
          <a:p>
            <a:r>
              <a:rPr lang="en-IN" sz="4000" dirty="0">
                <a:solidFill>
                  <a:schemeClr val="bg1"/>
                </a:solidFill>
                <a:latin typeface="Bookman Old Style" panose="02050604050505020204" pitchFamily="18" charset="0"/>
              </a:rPr>
              <a:t>QUANTUM COMPUTING</a:t>
            </a:r>
          </a:p>
        </p:txBody>
      </p:sp>
      <p:sp>
        <p:nvSpPr>
          <p:cNvPr id="5" name="TextBox 4"/>
          <p:cNvSpPr txBox="1"/>
          <p:nvPr/>
        </p:nvSpPr>
        <p:spPr>
          <a:xfrm>
            <a:off x="6989183" y="2686980"/>
            <a:ext cx="4666662" cy="477054"/>
          </a:xfrm>
          <a:prstGeom prst="rect">
            <a:avLst/>
          </a:prstGeom>
          <a:noFill/>
        </p:spPr>
        <p:txBody>
          <a:bodyPr wrap="none" rtlCol="0">
            <a:spAutoFit/>
          </a:bodyPr>
          <a:lstStyle/>
          <a:p>
            <a:r>
              <a:rPr lang="en-IN" sz="2500" dirty="0">
                <a:solidFill>
                  <a:schemeClr val="bg1"/>
                </a:solidFill>
                <a:latin typeface="Bookman Old Style" panose="02050604050505020204" pitchFamily="18" charset="0"/>
              </a:rPr>
              <a:t>NEW ERA OF COMPUTAION</a:t>
            </a:r>
          </a:p>
        </p:txBody>
      </p:sp>
      <p:sp>
        <p:nvSpPr>
          <p:cNvPr id="6" name="TextBox 5">
            <a:extLst>
              <a:ext uri="{FF2B5EF4-FFF2-40B4-BE49-F238E27FC236}">
                <a16:creationId xmlns:a16="http://schemas.microsoft.com/office/drawing/2014/main" id="{57814CE4-17CB-5EBE-CF44-B0AC3947F333}"/>
              </a:ext>
            </a:extLst>
          </p:cNvPr>
          <p:cNvSpPr txBox="1"/>
          <p:nvPr/>
        </p:nvSpPr>
        <p:spPr>
          <a:xfrm>
            <a:off x="7657502" y="4740215"/>
            <a:ext cx="3998343" cy="1200329"/>
          </a:xfrm>
          <a:prstGeom prst="rect">
            <a:avLst/>
          </a:prstGeom>
          <a:noFill/>
        </p:spPr>
        <p:txBody>
          <a:bodyPr wrap="square" rtlCol="0">
            <a:spAutoFit/>
          </a:bodyPr>
          <a:lstStyle/>
          <a:p>
            <a:pPr algn="r"/>
            <a:r>
              <a:rPr lang="en-IN" dirty="0"/>
              <a:t>TAMILNADU COLLEGE OF ENGINEERING</a:t>
            </a:r>
          </a:p>
          <a:p>
            <a:pPr algn="r"/>
            <a:r>
              <a:rPr lang="en-IN" dirty="0"/>
              <a:t>Basil V </a:t>
            </a:r>
          </a:p>
          <a:p>
            <a:pPr algn="r"/>
            <a:r>
              <a:rPr lang="en-IN" dirty="0"/>
              <a:t>Gokul S V</a:t>
            </a:r>
          </a:p>
          <a:p>
            <a:pPr algn="r"/>
            <a:r>
              <a:rPr lang="en-IN" dirty="0" err="1"/>
              <a:t>Lohith</a:t>
            </a:r>
            <a:r>
              <a:rPr lang="en-IN" dirty="0"/>
              <a:t> M </a:t>
            </a:r>
            <a:r>
              <a:rPr lang="en-IN" dirty="0" err="1"/>
              <a:t>M</a:t>
            </a:r>
            <a:endParaRPr lang="en-IN" dirty="0"/>
          </a:p>
        </p:txBody>
      </p:sp>
      <p:pic>
        <p:nvPicPr>
          <p:cNvPr id="7" name="Picture 6">
            <a:extLst>
              <a:ext uri="{FF2B5EF4-FFF2-40B4-BE49-F238E27FC236}">
                <a16:creationId xmlns:a16="http://schemas.microsoft.com/office/drawing/2014/main" id="{67A3D408-CC72-F654-7E6C-695CB77A6B7A}"/>
              </a:ext>
            </a:extLst>
          </p:cNvPr>
          <p:cNvPicPr>
            <a:picLocks noChangeAspect="1"/>
          </p:cNvPicPr>
          <p:nvPr/>
        </p:nvPicPr>
        <p:blipFill>
          <a:blip r:embed="rId4" cstate="print">
            <a:alphaModFix amt="50000"/>
            <a:extLst>
              <a:ext uri="{28A0092B-C50C-407E-A947-70E740481C1C}">
                <a14:useLocalDpi xmlns:a14="http://schemas.microsoft.com/office/drawing/2010/main" val="0"/>
              </a:ext>
            </a:extLst>
          </a:blip>
          <a:stretch>
            <a:fillRect/>
          </a:stretch>
        </p:blipFill>
        <p:spPr>
          <a:xfrm>
            <a:off x="12574356" y="918583"/>
            <a:ext cx="6020771" cy="4013847"/>
          </a:xfrm>
          <a:prstGeom prst="rect">
            <a:avLst/>
          </a:prstGeom>
        </p:spPr>
      </p:pic>
      <p:sp>
        <p:nvSpPr>
          <p:cNvPr id="11" name="Rectangle: Rounded Corners 10">
            <a:extLst>
              <a:ext uri="{FF2B5EF4-FFF2-40B4-BE49-F238E27FC236}">
                <a16:creationId xmlns:a16="http://schemas.microsoft.com/office/drawing/2014/main" id="{E2EE3D73-841F-B015-AA56-98DE53BA880F}"/>
              </a:ext>
            </a:extLst>
          </p:cNvPr>
          <p:cNvSpPr/>
          <p:nvPr/>
        </p:nvSpPr>
        <p:spPr>
          <a:xfrm>
            <a:off x="-3640668" y="-1632857"/>
            <a:ext cx="4171641" cy="1988457"/>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2" name="TextBox 11">
            <a:extLst>
              <a:ext uri="{FF2B5EF4-FFF2-40B4-BE49-F238E27FC236}">
                <a16:creationId xmlns:a16="http://schemas.microsoft.com/office/drawing/2014/main" id="{9E2E52F7-9F4F-006C-467B-F91950FE86BC}"/>
              </a:ext>
            </a:extLst>
          </p:cNvPr>
          <p:cNvSpPr txBox="1"/>
          <p:nvPr/>
        </p:nvSpPr>
        <p:spPr>
          <a:xfrm>
            <a:off x="-5135399" y="33212"/>
            <a:ext cx="2762295" cy="477054"/>
          </a:xfrm>
          <a:prstGeom prst="rect">
            <a:avLst/>
          </a:prstGeom>
          <a:noFill/>
        </p:spPr>
        <p:txBody>
          <a:bodyPr wrap="none" rtlCol="0">
            <a:spAutoFit/>
          </a:bodyPr>
          <a:lstStyle/>
          <a:p>
            <a:r>
              <a:rPr lang="en-IN" sz="2500" u="sng" dirty="0">
                <a:latin typeface="Bookman Old Style" panose="02050604050505020204" pitchFamily="18" charset="0"/>
              </a:rPr>
              <a:t>INTRODUCTION</a:t>
            </a:r>
          </a:p>
        </p:txBody>
      </p:sp>
    </p:spTree>
    <p:extLst>
      <p:ext uri="{BB962C8B-B14F-4D97-AF65-F5344CB8AC3E}">
        <p14:creationId xmlns:p14="http://schemas.microsoft.com/office/powerpoint/2010/main" val="405991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8CCFC6-E584-6EA4-CFE7-797570504156}"/>
              </a:ext>
            </a:extLst>
          </p:cNvPr>
          <p:cNvSpPr/>
          <p:nvPr/>
        </p:nvSpPr>
        <p:spPr>
          <a:xfrm>
            <a:off x="-1276350" y="-419100"/>
            <a:ext cx="14611350" cy="76009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26" name="Picture 25">
            <a:extLst>
              <a:ext uri="{FF2B5EF4-FFF2-40B4-BE49-F238E27FC236}">
                <a16:creationId xmlns:a16="http://schemas.microsoft.com/office/drawing/2014/main" id="{BEA296FC-5C92-F7CD-D491-A533F3240DD0}"/>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353586" y="-2886311"/>
            <a:ext cx="12935123" cy="12935123"/>
          </a:xfrm>
          <a:prstGeom prst="rect">
            <a:avLst/>
          </a:prstGeom>
        </p:spPr>
      </p:pic>
      <p:sp>
        <p:nvSpPr>
          <p:cNvPr id="19" name="Rectangle: Rounded Corners 18">
            <a:extLst>
              <a:ext uri="{FF2B5EF4-FFF2-40B4-BE49-F238E27FC236}">
                <a16:creationId xmlns:a16="http://schemas.microsoft.com/office/drawing/2014/main" id="{CD1AB5A4-DC51-1824-901E-4F8D1BEA3300}"/>
              </a:ext>
            </a:extLst>
          </p:cNvPr>
          <p:cNvSpPr/>
          <p:nvPr/>
        </p:nvSpPr>
        <p:spPr>
          <a:xfrm>
            <a:off x="-382702" y="-851489"/>
            <a:ext cx="4171641" cy="1988457"/>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4" name="TextBox 3"/>
          <p:cNvSpPr txBox="1"/>
          <p:nvPr/>
        </p:nvSpPr>
        <p:spPr>
          <a:xfrm>
            <a:off x="321972" y="437882"/>
            <a:ext cx="2762295" cy="477054"/>
          </a:xfrm>
          <a:prstGeom prst="rect">
            <a:avLst/>
          </a:prstGeom>
          <a:noFill/>
        </p:spPr>
        <p:txBody>
          <a:bodyPr wrap="none" rtlCol="0">
            <a:spAutoFit/>
          </a:bodyPr>
          <a:lstStyle/>
          <a:p>
            <a:r>
              <a:rPr lang="en-IN" sz="2500" u="sng" dirty="0">
                <a:latin typeface="Bookman Old Style" panose="02050604050505020204" pitchFamily="18" charset="0"/>
              </a:rPr>
              <a:t>INTRODUCTION</a:t>
            </a:r>
          </a:p>
        </p:txBody>
      </p:sp>
      <p:sp>
        <p:nvSpPr>
          <p:cNvPr id="5" name="TextBox 4"/>
          <p:cNvSpPr txBox="1"/>
          <p:nvPr/>
        </p:nvSpPr>
        <p:spPr>
          <a:xfrm>
            <a:off x="1056822" y="1167155"/>
            <a:ext cx="10349308" cy="707886"/>
          </a:xfrm>
          <a:prstGeom prst="rect">
            <a:avLst/>
          </a:prstGeom>
          <a:noFill/>
        </p:spPr>
        <p:txBody>
          <a:bodyPr wrap="none" rtlCol="0">
            <a:spAutoFit/>
          </a:bodyPr>
          <a:lstStyle/>
          <a:p>
            <a:r>
              <a:rPr lang="en-IN" sz="2000" dirty="0">
                <a:solidFill>
                  <a:schemeClr val="bg1"/>
                </a:solidFill>
                <a:latin typeface="Bookman Old Style" panose="02050604050505020204" pitchFamily="18" charset="0"/>
              </a:rPr>
              <a:t>On small scales, physical matter exhibits properties of both particles and waves, </a:t>
            </a:r>
          </a:p>
          <a:p>
            <a:r>
              <a:rPr lang="en-IN" sz="2000" dirty="0">
                <a:solidFill>
                  <a:schemeClr val="bg1"/>
                </a:solidFill>
                <a:latin typeface="Bookman Old Style" panose="02050604050505020204" pitchFamily="18" charset="0"/>
              </a:rPr>
              <a:t>and quantum computing leverages this </a:t>
            </a:r>
            <a:r>
              <a:rPr lang="en-IN" sz="2000" dirty="0" err="1">
                <a:solidFill>
                  <a:schemeClr val="bg1"/>
                </a:solidFill>
                <a:latin typeface="Bookman Old Style" panose="02050604050505020204" pitchFamily="18" charset="0"/>
              </a:rPr>
              <a:t>behavior</a:t>
            </a:r>
            <a:r>
              <a:rPr lang="en-IN" sz="2000" dirty="0">
                <a:solidFill>
                  <a:schemeClr val="bg1"/>
                </a:solidFill>
                <a:latin typeface="Bookman Old Style" panose="02050604050505020204" pitchFamily="18" charset="0"/>
              </a:rPr>
              <a:t> using specialized hardware.</a:t>
            </a:r>
          </a:p>
        </p:txBody>
      </p:sp>
      <p:sp>
        <p:nvSpPr>
          <p:cNvPr id="6" name="TextBox 5"/>
          <p:cNvSpPr txBox="1"/>
          <p:nvPr/>
        </p:nvSpPr>
        <p:spPr>
          <a:xfrm>
            <a:off x="457200" y="2387352"/>
            <a:ext cx="2616422" cy="400110"/>
          </a:xfrm>
          <a:prstGeom prst="rect">
            <a:avLst/>
          </a:prstGeom>
          <a:noFill/>
        </p:spPr>
        <p:txBody>
          <a:bodyPr wrap="none" rtlCol="0">
            <a:spAutoFit/>
          </a:bodyPr>
          <a:lstStyle/>
          <a:p>
            <a:r>
              <a:rPr lang="en-IN" sz="2000" dirty="0">
                <a:solidFill>
                  <a:schemeClr val="bg1"/>
                </a:solidFill>
                <a:latin typeface="Bookman Old Style" panose="02050604050505020204" pitchFamily="18" charset="0"/>
              </a:rPr>
              <a:t>Why is it important</a:t>
            </a:r>
          </a:p>
        </p:txBody>
      </p:sp>
      <p:sp>
        <p:nvSpPr>
          <p:cNvPr id="7" name="TextBox 6"/>
          <p:cNvSpPr txBox="1"/>
          <p:nvPr/>
        </p:nvSpPr>
        <p:spPr>
          <a:xfrm>
            <a:off x="457200" y="2934920"/>
            <a:ext cx="11577785" cy="646331"/>
          </a:xfrm>
          <a:prstGeom prst="rect">
            <a:avLst/>
          </a:prstGeom>
          <a:noFill/>
        </p:spPr>
        <p:txBody>
          <a:bodyPr wrap="none" rtlCol="0">
            <a:spAutoFit/>
          </a:bodyPr>
          <a:lstStyle/>
          <a:p>
            <a:pPr marL="285750" indent="-285750">
              <a:buFont typeface="Arial" panose="020B0604020202020204" pitchFamily="34" charset="0"/>
              <a:buChar char="•"/>
            </a:pPr>
            <a:r>
              <a:rPr lang="en-US" dirty="0">
                <a:solidFill>
                  <a:schemeClr val="bg1"/>
                </a:solidFill>
              </a:rPr>
              <a:t>It has the potential to </a:t>
            </a:r>
            <a:r>
              <a:rPr lang="en-US" b="1" dirty="0">
                <a:solidFill>
                  <a:schemeClr val="bg1"/>
                </a:solidFill>
              </a:rPr>
              <a:t>revolutionize problem-solving</a:t>
            </a:r>
            <a:r>
              <a:rPr lang="en-US" dirty="0">
                <a:solidFill>
                  <a:schemeClr val="bg1"/>
                </a:solidFill>
              </a:rPr>
              <a:t> in ways that classical computers simply cannot match. </a:t>
            </a:r>
          </a:p>
          <a:p>
            <a:pPr marL="285750" indent="-285750">
              <a:buFont typeface="Arial" panose="020B0604020202020204" pitchFamily="34" charset="0"/>
              <a:buChar char="•"/>
            </a:pPr>
            <a:r>
              <a:rPr lang="en-US" dirty="0">
                <a:solidFill>
                  <a:schemeClr val="bg1"/>
                </a:solidFill>
              </a:rPr>
              <a:t>It offers </a:t>
            </a:r>
            <a:r>
              <a:rPr lang="en-US" b="1" dirty="0">
                <a:solidFill>
                  <a:schemeClr val="bg1"/>
                </a:solidFill>
              </a:rPr>
              <a:t>exponential speedups</a:t>
            </a:r>
            <a:r>
              <a:rPr lang="en-US" dirty="0">
                <a:solidFill>
                  <a:schemeClr val="bg1"/>
                </a:solidFill>
              </a:rPr>
              <a:t> for certain problems, enabling breakthroughs in science, cryptography, AI, and beyond. </a:t>
            </a:r>
          </a:p>
        </p:txBody>
      </p:sp>
      <p:sp>
        <p:nvSpPr>
          <p:cNvPr id="10" name="Rectangle 1">
            <a:extLst>
              <a:ext uri="{FF2B5EF4-FFF2-40B4-BE49-F238E27FC236}">
                <a16:creationId xmlns:a16="http://schemas.microsoft.com/office/drawing/2014/main" id="{F52690F4-A733-4A97-EC66-70200D972ACD}"/>
              </a:ext>
            </a:extLst>
          </p:cNvPr>
          <p:cNvSpPr>
            <a:spLocks noChangeArrowheads="1"/>
          </p:cNvSpPr>
          <p:nvPr/>
        </p:nvSpPr>
        <p:spPr bwMode="auto">
          <a:xfrm>
            <a:off x="457200" y="4720119"/>
            <a:ext cx="1041022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bg1"/>
                </a:solidFill>
                <a:effectLst/>
                <a:latin typeface="Bookman Old Style" panose="02050604050505020204" pitchFamily="18" charset="0"/>
              </a:rPr>
              <a:t>Quantum computing differs from classical computing by using </a:t>
            </a:r>
            <a:r>
              <a:rPr kumimoji="0" lang="en-US" altLang="en-US" sz="1600" b="1" i="0" u="none" strike="noStrike" cap="none" normalizeH="0" baseline="0" dirty="0">
                <a:ln>
                  <a:noFill/>
                </a:ln>
                <a:solidFill>
                  <a:schemeClr val="bg1"/>
                </a:solidFill>
                <a:effectLst/>
                <a:latin typeface="Bookman Old Style" panose="02050604050505020204" pitchFamily="18" charset="0"/>
              </a:rPr>
              <a:t>qubits</a:t>
            </a:r>
            <a:r>
              <a:rPr kumimoji="0" lang="en-US" altLang="en-US" sz="1600" b="0" i="0" u="none" strike="noStrike" cap="none" normalizeH="0" baseline="0" dirty="0">
                <a:ln>
                  <a:noFill/>
                </a:ln>
                <a:solidFill>
                  <a:schemeClr val="bg1"/>
                </a:solidFill>
                <a:effectLst/>
                <a:latin typeface="Bookman Old Style" panose="02050604050505020204" pitchFamily="18" charset="0"/>
              </a:rPr>
              <a:t>, which can exist in multiple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chemeClr val="bg1"/>
                </a:solidFill>
                <a:latin typeface="Bookman Old Style" panose="02050604050505020204" pitchFamily="18" charset="0"/>
              </a:rPr>
              <a:t>    </a:t>
            </a:r>
            <a:r>
              <a:rPr kumimoji="0" lang="en-US" altLang="en-US" sz="1600" b="0" i="0" u="none" strike="noStrike" cap="none" normalizeH="0" baseline="0" dirty="0">
                <a:ln>
                  <a:noFill/>
                </a:ln>
                <a:solidFill>
                  <a:schemeClr val="bg1"/>
                </a:solidFill>
                <a:effectLst/>
                <a:latin typeface="Bookman Old Style" panose="02050604050505020204" pitchFamily="18" charset="0"/>
              </a:rPr>
              <a:t>states at once (</a:t>
            </a:r>
            <a:r>
              <a:rPr kumimoji="0" lang="en-US" altLang="en-US" sz="1600" b="1" i="0" u="none" strike="noStrike" cap="none" normalizeH="0" baseline="0" dirty="0">
                <a:ln>
                  <a:noFill/>
                </a:ln>
                <a:solidFill>
                  <a:schemeClr val="bg1"/>
                </a:solidFill>
                <a:effectLst/>
                <a:latin typeface="Bookman Old Style" panose="02050604050505020204" pitchFamily="18" charset="0"/>
              </a:rPr>
              <a:t>superposition</a:t>
            </a:r>
            <a:r>
              <a:rPr kumimoji="0" lang="en-US" altLang="en-US" sz="1600" b="0" i="0" u="none" strike="noStrike" cap="none" normalizeH="0" baseline="0" dirty="0">
                <a:ln>
                  <a:noFill/>
                </a:ln>
                <a:solidFill>
                  <a:schemeClr val="bg1"/>
                </a:solidFill>
                <a:effectLst/>
                <a:latin typeface="Bookman Old Style" panose="02050604050505020204" pitchFamily="18" charset="0"/>
              </a:rPr>
              <a:t>) and interact through </a:t>
            </a:r>
            <a:r>
              <a:rPr kumimoji="0" lang="en-US" altLang="en-US" sz="1600" b="1" i="0" u="none" strike="noStrike" cap="none" normalizeH="0" baseline="0" dirty="0">
                <a:ln>
                  <a:noFill/>
                </a:ln>
                <a:solidFill>
                  <a:schemeClr val="bg1"/>
                </a:solidFill>
                <a:effectLst/>
                <a:latin typeface="Bookman Old Style" panose="02050604050505020204" pitchFamily="18" charset="0"/>
              </a:rPr>
              <a:t>entanglement</a:t>
            </a:r>
            <a:r>
              <a:rPr kumimoji="0" lang="en-US" altLang="en-US" sz="1600" b="0" i="0" u="none" strike="noStrike" cap="none" normalizeH="0" baseline="0" dirty="0">
                <a:ln>
                  <a:noFill/>
                </a:ln>
                <a:solidFill>
                  <a:schemeClr val="bg1"/>
                </a:solidFill>
                <a:effectLst/>
                <a:latin typeface="Bookman Old Style" panose="02050604050505020204" pitchFamily="18" charset="0"/>
              </a:rPr>
              <a:t>. This allows quantum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chemeClr val="bg1"/>
                </a:solidFill>
                <a:latin typeface="Bookman Old Style" panose="02050604050505020204" pitchFamily="18" charset="0"/>
              </a:rPr>
              <a:t>    </a:t>
            </a:r>
            <a:r>
              <a:rPr kumimoji="0" lang="en-US" altLang="en-US" sz="1600" b="0" i="0" u="none" strike="noStrike" cap="none" normalizeH="0" baseline="0" dirty="0">
                <a:ln>
                  <a:noFill/>
                </a:ln>
                <a:solidFill>
                  <a:schemeClr val="bg1"/>
                </a:solidFill>
                <a:effectLst/>
                <a:latin typeface="Bookman Old Style" panose="02050604050505020204" pitchFamily="18" charset="0"/>
              </a:rPr>
              <a:t>computers to perform certain complex calculations exponentially faster than classical computers.</a:t>
            </a:r>
          </a:p>
        </p:txBody>
      </p:sp>
      <p:sp>
        <p:nvSpPr>
          <p:cNvPr id="14" name="TextBox 13">
            <a:extLst>
              <a:ext uri="{FF2B5EF4-FFF2-40B4-BE49-F238E27FC236}">
                <a16:creationId xmlns:a16="http://schemas.microsoft.com/office/drawing/2014/main" id="{53848F8F-D791-F1DB-DEE0-A9E14316C9FE}"/>
              </a:ext>
            </a:extLst>
          </p:cNvPr>
          <p:cNvSpPr txBox="1"/>
          <p:nvPr/>
        </p:nvSpPr>
        <p:spPr>
          <a:xfrm>
            <a:off x="457200" y="4296229"/>
            <a:ext cx="5288627" cy="400110"/>
          </a:xfrm>
          <a:prstGeom prst="rect">
            <a:avLst/>
          </a:prstGeom>
          <a:noFill/>
        </p:spPr>
        <p:txBody>
          <a:bodyPr wrap="none" rtlCol="0">
            <a:spAutoFit/>
          </a:bodyPr>
          <a:lstStyle/>
          <a:p>
            <a:r>
              <a:rPr lang="en-US" sz="2000" dirty="0">
                <a:solidFill>
                  <a:schemeClr val="bg1"/>
                </a:solidFill>
                <a:latin typeface="Bookman Old Style" panose="02050604050505020204" pitchFamily="18" charset="0"/>
              </a:rPr>
              <a:t>How it differs from classical computing ?</a:t>
            </a:r>
            <a:endParaRPr lang="en-IN" sz="2000" dirty="0">
              <a:solidFill>
                <a:schemeClr val="bg1"/>
              </a:solidFill>
              <a:latin typeface="Bookman Old Style" panose="02050604050505020204" pitchFamily="18" charset="0"/>
            </a:endParaRPr>
          </a:p>
        </p:txBody>
      </p:sp>
      <p:pic>
        <p:nvPicPr>
          <p:cNvPr id="15" name="Picture 14">
            <a:extLst>
              <a:ext uri="{FF2B5EF4-FFF2-40B4-BE49-F238E27FC236}">
                <a16:creationId xmlns:a16="http://schemas.microsoft.com/office/drawing/2014/main" id="{8A58F905-2063-4831-E7B0-478BA5D94C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7586058"/>
            <a:ext cx="5197105" cy="6935638"/>
          </a:xfrm>
          <a:prstGeom prst="rect">
            <a:avLst/>
          </a:prstGeom>
        </p:spPr>
      </p:pic>
      <p:sp>
        <p:nvSpPr>
          <p:cNvPr id="20" name="Rectangle: Rounded Corners 19">
            <a:extLst>
              <a:ext uri="{FF2B5EF4-FFF2-40B4-BE49-F238E27FC236}">
                <a16:creationId xmlns:a16="http://schemas.microsoft.com/office/drawing/2014/main" id="{52A73A26-4513-5AEB-EAD2-B6AE9DFDE6CF}"/>
              </a:ext>
            </a:extLst>
          </p:cNvPr>
          <p:cNvSpPr/>
          <p:nvPr/>
        </p:nvSpPr>
        <p:spPr>
          <a:xfrm>
            <a:off x="8644473" y="6473372"/>
            <a:ext cx="4171641" cy="1988457"/>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66818DC8-23B7-6682-BD97-9D5D757A75A3}"/>
              </a:ext>
            </a:extLst>
          </p:cNvPr>
          <p:cNvSpPr/>
          <p:nvPr/>
        </p:nvSpPr>
        <p:spPr>
          <a:xfrm>
            <a:off x="-5597666" y="1167155"/>
            <a:ext cx="5151752" cy="277307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0C51FD81-C40C-DF1A-36A4-451BBCFFCD28}"/>
              </a:ext>
            </a:extLst>
          </p:cNvPr>
          <p:cNvSpPr/>
          <p:nvPr/>
        </p:nvSpPr>
        <p:spPr>
          <a:xfrm>
            <a:off x="13012875" y="1348981"/>
            <a:ext cx="5877467" cy="277307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096C9FD8-CC3A-5117-9058-149C6BB51385}"/>
              </a:ext>
            </a:extLst>
          </p:cNvPr>
          <p:cNvSpPr/>
          <p:nvPr/>
        </p:nvSpPr>
        <p:spPr>
          <a:xfrm>
            <a:off x="-5597666" y="4025487"/>
            <a:ext cx="5151752" cy="243797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ABCBC6B2-E8B1-6F6B-E168-9298D82F7210}"/>
              </a:ext>
            </a:extLst>
          </p:cNvPr>
          <p:cNvSpPr/>
          <p:nvPr/>
        </p:nvSpPr>
        <p:spPr>
          <a:xfrm>
            <a:off x="13012875" y="4207313"/>
            <a:ext cx="5877467" cy="243797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5" name="TextBox 24">
            <a:extLst>
              <a:ext uri="{FF2B5EF4-FFF2-40B4-BE49-F238E27FC236}">
                <a16:creationId xmlns:a16="http://schemas.microsoft.com/office/drawing/2014/main" id="{A5EC458E-669F-89C0-E887-1300A1CDB085}"/>
              </a:ext>
            </a:extLst>
          </p:cNvPr>
          <p:cNvSpPr txBox="1"/>
          <p:nvPr/>
        </p:nvSpPr>
        <p:spPr>
          <a:xfrm>
            <a:off x="-4019590" y="454850"/>
            <a:ext cx="3544560" cy="477054"/>
          </a:xfrm>
          <a:prstGeom prst="rect">
            <a:avLst/>
          </a:prstGeom>
          <a:noFill/>
        </p:spPr>
        <p:txBody>
          <a:bodyPr wrap="none" rtlCol="0">
            <a:spAutoFit/>
          </a:bodyPr>
          <a:lstStyle/>
          <a:p>
            <a:r>
              <a:rPr lang="en-IN" sz="2500" u="sng" dirty="0">
                <a:latin typeface="Bookman Old Style" panose="02050604050505020204" pitchFamily="18" charset="0"/>
              </a:rPr>
              <a:t>BASICS MECHANICS</a:t>
            </a:r>
          </a:p>
        </p:txBody>
      </p:sp>
    </p:spTree>
    <p:extLst>
      <p:ext uri="{BB962C8B-B14F-4D97-AF65-F5344CB8AC3E}">
        <p14:creationId xmlns:p14="http://schemas.microsoft.com/office/powerpoint/2010/main" val="3868968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E9E676-968D-E873-A977-DDE20250AF8D}"/>
              </a:ext>
            </a:extLst>
          </p:cNvPr>
          <p:cNvSpPr/>
          <p:nvPr/>
        </p:nvSpPr>
        <p:spPr>
          <a:xfrm>
            <a:off x="-1276350" y="-419100"/>
            <a:ext cx="14611350" cy="76009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46C6712B-9D37-CD64-FA74-C400783FBB69}"/>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5779092"/>
            <a:ext cx="12935123" cy="12935123"/>
          </a:xfrm>
          <a:prstGeom prst="rect">
            <a:avLst/>
          </a:prstGeom>
        </p:spPr>
      </p:pic>
      <p:sp>
        <p:nvSpPr>
          <p:cNvPr id="10" name="Rectangle: Rounded Corners 9">
            <a:extLst>
              <a:ext uri="{FF2B5EF4-FFF2-40B4-BE49-F238E27FC236}">
                <a16:creationId xmlns:a16="http://schemas.microsoft.com/office/drawing/2014/main" id="{79CDD47D-DE20-B447-BA0E-A3E14B303554}"/>
              </a:ext>
            </a:extLst>
          </p:cNvPr>
          <p:cNvSpPr/>
          <p:nvPr/>
        </p:nvSpPr>
        <p:spPr>
          <a:xfrm>
            <a:off x="204019" y="1348981"/>
            <a:ext cx="5151752" cy="277307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dirty="0"/>
          </a:p>
        </p:txBody>
      </p:sp>
      <p:sp>
        <p:nvSpPr>
          <p:cNvPr id="12" name="Rectangle: Rounded Corners 11">
            <a:extLst>
              <a:ext uri="{FF2B5EF4-FFF2-40B4-BE49-F238E27FC236}">
                <a16:creationId xmlns:a16="http://schemas.microsoft.com/office/drawing/2014/main" id="{3B589AE4-82D9-411B-1268-7F91F204B583}"/>
              </a:ext>
            </a:extLst>
          </p:cNvPr>
          <p:cNvSpPr/>
          <p:nvPr/>
        </p:nvSpPr>
        <p:spPr>
          <a:xfrm>
            <a:off x="204019" y="4207313"/>
            <a:ext cx="11282400" cy="243797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5A722593-96AE-7DB8-C0B6-DF81F766273F}"/>
              </a:ext>
            </a:extLst>
          </p:cNvPr>
          <p:cNvSpPr/>
          <p:nvPr/>
        </p:nvSpPr>
        <p:spPr>
          <a:xfrm>
            <a:off x="5608952" y="1348167"/>
            <a:ext cx="5877467" cy="277307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F790F28E-AC6D-89C7-657E-A717035E0DDD}"/>
              </a:ext>
            </a:extLst>
          </p:cNvPr>
          <p:cNvSpPr/>
          <p:nvPr/>
        </p:nvSpPr>
        <p:spPr>
          <a:xfrm>
            <a:off x="-382702" y="-851488"/>
            <a:ext cx="12923045" cy="1778486"/>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4" name="TextBox 3"/>
          <p:cNvSpPr txBox="1"/>
          <p:nvPr/>
        </p:nvSpPr>
        <p:spPr>
          <a:xfrm>
            <a:off x="204019" y="449943"/>
            <a:ext cx="3544560" cy="477054"/>
          </a:xfrm>
          <a:prstGeom prst="rect">
            <a:avLst/>
          </a:prstGeom>
          <a:noFill/>
        </p:spPr>
        <p:txBody>
          <a:bodyPr wrap="none" rtlCol="0">
            <a:spAutoFit/>
          </a:bodyPr>
          <a:lstStyle/>
          <a:p>
            <a:r>
              <a:rPr lang="en-IN" sz="2500" u="sng" dirty="0">
                <a:latin typeface="Bookman Old Style" panose="02050604050505020204" pitchFamily="18" charset="0"/>
              </a:rPr>
              <a:t>BASICS MECHANICS</a:t>
            </a:r>
          </a:p>
        </p:txBody>
      </p:sp>
      <p:sp>
        <p:nvSpPr>
          <p:cNvPr id="6" name="TextBox 5"/>
          <p:cNvSpPr txBox="1"/>
          <p:nvPr/>
        </p:nvSpPr>
        <p:spPr>
          <a:xfrm>
            <a:off x="457200" y="1474790"/>
            <a:ext cx="1111202" cy="400110"/>
          </a:xfrm>
          <a:prstGeom prst="rect">
            <a:avLst/>
          </a:prstGeom>
          <a:noFill/>
        </p:spPr>
        <p:txBody>
          <a:bodyPr wrap="none" rtlCol="0">
            <a:spAutoFit/>
          </a:bodyPr>
          <a:lstStyle/>
          <a:p>
            <a:r>
              <a:rPr lang="en-IN" sz="2000" u="sng" dirty="0">
                <a:latin typeface="Bookman Old Style" panose="02050604050505020204" pitchFamily="18" charset="0"/>
              </a:rPr>
              <a:t>QUIBIT</a:t>
            </a:r>
          </a:p>
        </p:txBody>
      </p:sp>
      <p:sp>
        <p:nvSpPr>
          <p:cNvPr id="8" name="TextBox 7"/>
          <p:cNvSpPr txBox="1"/>
          <p:nvPr/>
        </p:nvSpPr>
        <p:spPr>
          <a:xfrm>
            <a:off x="4354395" y="4342357"/>
            <a:ext cx="2509114" cy="400110"/>
          </a:xfrm>
          <a:prstGeom prst="rect">
            <a:avLst/>
          </a:prstGeom>
          <a:noFill/>
        </p:spPr>
        <p:txBody>
          <a:bodyPr wrap="square" rtlCol="0">
            <a:spAutoFit/>
          </a:bodyPr>
          <a:lstStyle/>
          <a:p>
            <a:r>
              <a:rPr lang="en-IN" sz="2000" u="sng" dirty="0">
                <a:latin typeface="Bookman Old Style" panose="02050604050505020204" pitchFamily="18" charset="0"/>
              </a:rPr>
              <a:t>ENTANGLEMENT</a:t>
            </a:r>
          </a:p>
        </p:txBody>
      </p:sp>
      <p:sp>
        <p:nvSpPr>
          <p:cNvPr id="9" name="TextBox 8"/>
          <p:cNvSpPr txBox="1"/>
          <p:nvPr/>
        </p:nvSpPr>
        <p:spPr>
          <a:xfrm>
            <a:off x="5847620" y="1446094"/>
            <a:ext cx="3712876" cy="400110"/>
          </a:xfrm>
          <a:prstGeom prst="rect">
            <a:avLst/>
          </a:prstGeom>
          <a:noFill/>
        </p:spPr>
        <p:txBody>
          <a:bodyPr wrap="none" rtlCol="0">
            <a:spAutoFit/>
          </a:bodyPr>
          <a:lstStyle/>
          <a:p>
            <a:r>
              <a:rPr lang="en-IN" sz="2000" u="sng" dirty="0">
                <a:latin typeface="Bookman Old Style" panose="02050604050505020204" pitchFamily="18" charset="0"/>
              </a:rPr>
              <a:t>QUANTUM INTERFERENCE</a:t>
            </a:r>
          </a:p>
        </p:txBody>
      </p:sp>
      <p:sp>
        <p:nvSpPr>
          <p:cNvPr id="14" name="TextBox 13">
            <a:extLst>
              <a:ext uri="{FF2B5EF4-FFF2-40B4-BE49-F238E27FC236}">
                <a16:creationId xmlns:a16="http://schemas.microsoft.com/office/drawing/2014/main" id="{882B267E-8D3D-768E-0238-E3E989E56EA8}"/>
              </a:ext>
            </a:extLst>
          </p:cNvPr>
          <p:cNvSpPr txBox="1"/>
          <p:nvPr/>
        </p:nvSpPr>
        <p:spPr>
          <a:xfrm>
            <a:off x="204019" y="-1376602"/>
            <a:ext cx="2762295" cy="477054"/>
          </a:xfrm>
          <a:prstGeom prst="rect">
            <a:avLst/>
          </a:prstGeom>
          <a:noFill/>
        </p:spPr>
        <p:txBody>
          <a:bodyPr wrap="none" rtlCol="0">
            <a:spAutoFit/>
          </a:bodyPr>
          <a:lstStyle/>
          <a:p>
            <a:r>
              <a:rPr lang="en-IN" sz="2500" u="sng" dirty="0">
                <a:latin typeface="Bookman Old Style" panose="02050604050505020204" pitchFamily="18" charset="0"/>
              </a:rPr>
              <a:t>INTRODUCTION</a:t>
            </a:r>
          </a:p>
        </p:txBody>
      </p:sp>
      <p:sp>
        <p:nvSpPr>
          <p:cNvPr id="16" name="TextBox 15">
            <a:extLst>
              <a:ext uri="{FF2B5EF4-FFF2-40B4-BE49-F238E27FC236}">
                <a16:creationId xmlns:a16="http://schemas.microsoft.com/office/drawing/2014/main" id="{3F53C264-92E8-AC94-9280-1277DEF15D49}"/>
              </a:ext>
            </a:extLst>
          </p:cNvPr>
          <p:cNvSpPr txBox="1"/>
          <p:nvPr/>
        </p:nvSpPr>
        <p:spPr>
          <a:xfrm>
            <a:off x="723899" y="1813733"/>
            <a:ext cx="3838575" cy="2031325"/>
          </a:xfrm>
          <a:prstGeom prst="rect">
            <a:avLst/>
          </a:prstGeom>
          <a:noFill/>
        </p:spPr>
        <p:txBody>
          <a:bodyPr wrap="square" rtlCol="0">
            <a:spAutoFit/>
          </a:bodyPr>
          <a:lstStyle/>
          <a:p>
            <a:r>
              <a:rPr lang="en-US" dirty="0"/>
              <a:t>A </a:t>
            </a:r>
            <a:r>
              <a:rPr lang="en-US" b="1" dirty="0"/>
              <a:t>qubit</a:t>
            </a:r>
            <a:r>
              <a:rPr lang="en-US" dirty="0"/>
              <a:t> (quantum bit) is the fundamental unit of quantum computing, similar to a classical bit but with unique quantum properties. </a:t>
            </a:r>
          </a:p>
          <a:p>
            <a:r>
              <a:rPr lang="en-US" dirty="0"/>
              <a:t>It can exist in </a:t>
            </a:r>
            <a:r>
              <a:rPr lang="en-US" b="1" dirty="0"/>
              <a:t>superposition</a:t>
            </a:r>
            <a:r>
              <a:rPr lang="en-US" dirty="0"/>
              <a:t>, meaning they can be </a:t>
            </a:r>
            <a:r>
              <a:rPr lang="en-US" b="1" dirty="0"/>
              <a:t>both 0 and 1 simultaneously</a:t>
            </a:r>
            <a:r>
              <a:rPr lang="en-US" dirty="0"/>
              <a:t>.</a:t>
            </a:r>
            <a:endParaRPr lang="en-IN" dirty="0"/>
          </a:p>
        </p:txBody>
      </p:sp>
      <p:sp>
        <p:nvSpPr>
          <p:cNvPr id="17" name="TextBox 16">
            <a:extLst>
              <a:ext uri="{FF2B5EF4-FFF2-40B4-BE49-F238E27FC236}">
                <a16:creationId xmlns:a16="http://schemas.microsoft.com/office/drawing/2014/main" id="{B74A5076-538B-4519-A916-92F7DC8182A5}"/>
              </a:ext>
            </a:extLst>
          </p:cNvPr>
          <p:cNvSpPr txBox="1"/>
          <p:nvPr/>
        </p:nvSpPr>
        <p:spPr>
          <a:xfrm>
            <a:off x="6429890" y="1932050"/>
            <a:ext cx="4235589" cy="1200329"/>
          </a:xfrm>
          <a:prstGeom prst="rect">
            <a:avLst/>
          </a:prstGeom>
          <a:noFill/>
        </p:spPr>
        <p:txBody>
          <a:bodyPr wrap="square" rtlCol="0">
            <a:spAutoFit/>
          </a:bodyPr>
          <a:lstStyle/>
          <a:p>
            <a:r>
              <a:rPr lang="en-US" dirty="0"/>
              <a:t>It is used to </a:t>
            </a:r>
            <a:r>
              <a:rPr lang="en-US" b="1" dirty="0"/>
              <a:t>amplify correct solutions and reduce incorrect ones</a:t>
            </a:r>
            <a:r>
              <a:rPr lang="en-US" dirty="0"/>
              <a:t>, making quantum algorithms more efficient than classical methods. </a:t>
            </a:r>
            <a:endParaRPr lang="en-IN" dirty="0"/>
          </a:p>
        </p:txBody>
      </p:sp>
      <p:sp>
        <p:nvSpPr>
          <p:cNvPr id="18" name="TextBox 17">
            <a:extLst>
              <a:ext uri="{FF2B5EF4-FFF2-40B4-BE49-F238E27FC236}">
                <a16:creationId xmlns:a16="http://schemas.microsoft.com/office/drawing/2014/main" id="{95BEBADF-5DD7-7739-B576-3CCED8913D29}"/>
              </a:ext>
            </a:extLst>
          </p:cNvPr>
          <p:cNvSpPr txBox="1"/>
          <p:nvPr/>
        </p:nvSpPr>
        <p:spPr>
          <a:xfrm>
            <a:off x="1521114" y="4868891"/>
            <a:ext cx="8648209" cy="1200329"/>
          </a:xfrm>
          <a:prstGeom prst="rect">
            <a:avLst/>
          </a:prstGeom>
          <a:noFill/>
        </p:spPr>
        <p:txBody>
          <a:bodyPr wrap="square" rtlCol="0">
            <a:spAutoFit/>
          </a:bodyPr>
          <a:lstStyle/>
          <a:p>
            <a:r>
              <a:rPr lang="en-US" dirty="0"/>
              <a:t>It is a phenomenon where two or more qubits become interconnected, meaning the state of one qubit is instantly correlated with the state of another, regardless of the distance between them. This unique property allows quantum computers to process and transfer information in ways that classical computers cannot.</a:t>
            </a:r>
            <a:endParaRPr lang="en-IN" dirty="0"/>
          </a:p>
        </p:txBody>
      </p:sp>
    </p:spTree>
    <p:extLst>
      <p:ext uri="{BB962C8B-B14F-4D97-AF65-F5344CB8AC3E}">
        <p14:creationId xmlns:p14="http://schemas.microsoft.com/office/powerpoint/2010/main" val="11639923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3F397C-EBAF-FC14-BC73-515CA844ADF1}"/>
              </a:ext>
            </a:extLst>
          </p:cNvPr>
          <p:cNvSpPr/>
          <p:nvPr/>
        </p:nvSpPr>
        <p:spPr>
          <a:xfrm>
            <a:off x="-1276350" y="-419100"/>
            <a:ext cx="14611350" cy="76009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19" name="Picture 18">
            <a:extLst>
              <a:ext uri="{FF2B5EF4-FFF2-40B4-BE49-F238E27FC236}">
                <a16:creationId xmlns:a16="http://schemas.microsoft.com/office/drawing/2014/main" id="{3FBC211E-B063-9981-5E15-B23B056FFDB1}"/>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743123" y="-5643695"/>
            <a:ext cx="12935123" cy="12935123"/>
          </a:xfrm>
          <a:prstGeom prst="rect">
            <a:avLst/>
          </a:prstGeom>
        </p:spPr>
      </p:pic>
      <p:sp>
        <p:nvSpPr>
          <p:cNvPr id="15" name="Rectangle: Rounded Corners 14">
            <a:extLst>
              <a:ext uri="{FF2B5EF4-FFF2-40B4-BE49-F238E27FC236}">
                <a16:creationId xmlns:a16="http://schemas.microsoft.com/office/drawing/2014/main" id="{34CE2A88-69C1-3887-DFC9-6FE4F3EBAAE0}"/>
              </a:ext>
            </a:extLst>
          </p:cNvPr>
          <p:cNvSpPr/>
          <p:nvPr/>
        </p:nvSpPr>
        <p:spPr>
          <a:xfrm>
            <a:off x="262077" y="1160295"/>
            <a:ext cx="7401466" cy="3629420"/>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EE346A54-76D6-EDB9-AB1F-58E9216A964F}"/>
              </a:ext>
            </a:extLst>
          </p:cNvPr>
          <p:cNvSpPr/>
          <p:nvPr/>
        </p:nvSpPr>
        <p:spPr>
          <a:xfrm>
            <a:off x="5915390" y="1160295"/>
            <a:ext cx="6014533" cy="3629420"/>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43F1A8C5-75DB-C7AE-5446-A02EA6618607}"/>
              </a:ext>
            </a:extLst>
          </p:cNvPr>
          <p:cNvSpPr/>
          <p:nvPr/>
        </p:nvSpPr>
        <p:spPr>
          <a:xfrm>
            <a:off x="262077" y="7010906"/>
            <a:ext cx="5151752" cy="243797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96185CF9-2DE9-5051-3CC9-E0C710942B2F}"/>
              </a:ext>
            </a:extLst>
          </p:cNvPr>
          <p:cNvSpPr/>
          <p:nvPr/>
        </p:nvSpPr>
        <p:spPr>
          <a:xfrm>
            <a:off x="5915390" y="7010906"/>
            <a:ext cx="5877467" cy="243797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9C1E6844-6703-FA06-5DD9-095D0632C3C3}"/>
              </a:ext>
            </a:extLst>
          </p:cNvPr>
          <p:cNvSpPr/>
          <p:nvPr/>
        </p:nvSpPr>
        <p:spPr>
          <a:xfrm>
            <a:off x="3585029" y="324206"/>
            <a:ext cx="4898804" cy="602791"/>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4" name="TextBox 3"/>
          <p:cNvSpPr txBox="1"/>
          <p:nvPr/>
        </p:nvSpPr>
        <p:spPr>
          <a:xfrm>
            <a:off x="3708167" y="452035"/>
            <a:ext cx="4775666" cy="477054"/>
          </a:xfrm>
          <a:prstGeom prst="rect">
            <a:avLst/>
          </a:prstGeom>
          <a:noFill/>
        </p:spPr>
        <p:txBody>
          <a:bodyPr wrap="none" rtlCol="0">
            <a:spAutoFit/>
          </a:bodyPr>
          <a:lstStyle/>
          <a:p>
            <a:r>
              <a:rPr lang="en-IN" sz="2500" u="sng" dirty="0">
                <a:latin typeface="Bookman Old Style" panose="02050604050505020204" pitchFamily="18" charset="0"/>
              </a:rPr>
              <a:t>QUBITS VS CLASSICAL BITS</a:t>
            </a:r>
          </a:p>
        </p:txBody>
      </p:sp>
      <p:graphicFrame>
        <p:nvGraphicFramePr>
          <p:cNvPr id="5" name="Table 4"/>
          <p:cNvGraphicFramePr>
            <a:graphicFrameLocks noGrp="1"/>
          </p:cNvGraphicFramePr>
          <p:nvPr>
            <p:extLst>
              <p:ext uri="{D42A27DB-BD31-4B8C-83A1-F6EECF244321}">
                <p14:modId xmlns:p14="http://schemas.microsoft.com/office/powerpoint/2010/main" val="3100098819"/>
              </p:ext>
            </p:extLst>
          </p:nvPr>
        </p:nvGraphicFramePr>
        <p:xfrm>
          <a:off x="681580" y="1428749"/>
          <a:ext cx="10900820" cy="3184957"/>
        </p:xfrm>
        <a:graphic>
          <a:graphicData uri="http://schemas.openxmlformats.org/drawingml/2006/table">
            <a:tbl>
              <a:tblPr/>
              <a:tblGrid>
                <a:gridCol w="5450410">
                  <a:extLst>
                    <a:ext uri="{9D8B030D-6E8A-4147-A177-3AD203B41FA5}">
                      <a16:colId xmlns:a16="http://schemas.microsoft.com/office/drawing/2014/main" val="1074002021"/>
                    </a:ext>
                  </a:extLst>
                </a:gridCol>
                <a:gridCol w="5450410">
                  <a:extLst>
                    <a:ext uri="{9D8B030D-6E8A-4147-A177-3AD203B41FA5}">
                      <a16:colId xmlns:a16="http://schemas.microsoft.com/office/drawing/2014/main" val="988309149"/>
                    </a:ext>
                  </a:extLst>
                </a:gridCol>
              </a:tblGrid>
              <a:tr h="482283">
                <a:tc>
                  <a:txBody>
                    <a:bodyPr/>
                    <a:lstStyle/>
                    <a:p>
                      <a:pPr algn="ctr" fontAlgn="base"/>
                      <a:r>
                        <a:rPr lang="en-IN" sz="1200" b="1" u="sng" dirty="0">
                          <a:effectLst/>
                          <a:latin typeface="Bookman Old Style" panose="02050604050505020204" pitchFamily="18" charset="0"/>
                        </a:rPr>
                        <a:t>BITS</a:t>
                      </a:r>
                    </a:p>
                  </a:txBody>
                  <a:tcPr marL="33575" marR="33575" marT="83938" marB="8393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200" b="1" u="sng" dirty="0">
                          <a:effectLst/>
                          <a:latin typeface="Bookman Old Style" panose="02050604050505020204" pitchFamily="18" charset="0"/>
                        </a:rPr>
                        <a:t>QUANTUM BITS</a:t>
                      </a:r>
                    </a:p>
                  </a:txBody>
                  <a:tcPr marL="83938" marR="83938" marT="83938" marB="83938"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2539968"/>
                  </a:ext>
                </a:extLst>
              </a:tr>
              <a:tr h="656363">
                <a:tc>
                  <a:txBody>
                    <a:bodyPr/>
                    <a:lstStyle/>
                    <a:p>
                      <a:pPr algn="ctr" fontAlgn="ctr"/>
                      <a:r>
                        <a:rPr lang="en-IN" sz="1100" b="0">
                          <a:effectLst/>
                          <a:latin typeface="Bookman Old Style" panose="02050604050505020204" pitchFamily="18" charset="0"/>
                        </a:rPr>
                        <a:t>The device computes by manipulating those bits with the help of </a:t>
                      </a:r>
                      <a:r>
                        <a:rPr lang="en-IN" sz="1100" b="0" u="sng">
                          <a:effectLst/>
                          <a:latin typeface="Bookman Old Style" panose="02050604050505020204" pitchFamily="18" charset="0"/>
                          <a:hlinkClick r:id="rId3"/>
                        </a:rPr>
                        <a:t>logical gates (AND, OR, NOT)</a:t>
                      </a:r>
                      <a:r>
                        <a:rPr lang="en-IN" sz="1100" b="0">
                          <a:effectLst/>
                          <a:latin typeface="Bookman Old Style" panose="02050604050505020204" pitchFamily="18" charset="0"/>
                        </a:rPr>
                        <a:t>.</a:t>
                      </a:r>
                    </a:p>
                  </a:txBody>
                  <a:tcPr marL="83938" marR="83938" marT="117513" marB="1175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dirty="0">
                          <a:effectLst/>
                          <a:latin typeface="Bookman Old Style" panose="02050604050505020204" pitchFamily="18" charset="0"/>
                        </a:rPr>
                        <a:t>The device computes by manipulating those bits with the help of quantum </a:t>
                      </a:r>
                      <a:r>
                        <a:rPr lang="en-IN" sz="1100" b="0" u="sng" dirty="0">
                          <a:effectLst/>
                          <a:latin typeface="Bookman Old Style" panose="02050604050505020204" pitchFamily="18" charset="0"/>
                          <a:hlinkClick r:id="rId4"/>
                        </a:rPr>
                        <a:t>logic gates</a:t>
                      </a:r>
                      <a:r>
                        <a:rPr lang="en-IN" sz="1100" b="0" dirty="0">
                          <a:effectLst/>
                          <a:latin typeface="Bookman Old Style" panose="02050604050505020204" pitchFamily="18" charset="0"/>
                        </a:rPr>
                        <a:t>.</a:t>
                      </a:r>
                    </a:p>
                  </a:txBody>
                  <a:tcPr marL="83938" marR="83938" marT="117513" marB="1175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56112814"/>
                  </a:ext>
                </a:extLst>
              </a:tr>
              <a:tr h="656363">
                <a:tc>
                  <a:txBody>
                    <a:bodyPr/>
                    <a:lstStyle/>
                    <a:p>
                      <a:pPr algn="ctr" fontAlgn="ctr"/>
                      <a:r>
                        <a:rPr lang="en-IN" sz="1100" b="0">
                          <a:effectLst/>
                          <a:latin typeface="Bookman Old Style" panose="02050604050505020204" pitchFamily="18" charset="0"/>
                        </a:rPr>
                        <a:t>A classical computer has a memory made up of bits where each bit hold either a one or zero.</a:t>
                      </a:r>
                    </a:p>
                  </a:txBody>
                  <a:tcPr marL="83938" marR="83938" marT="117513" marB="1175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dirty="0">
                          <a:effectLst/>
                          <a:latin typeface="Bookman Old Style" panose="02050604050505020204" pitchFamily="18" charset="0"/>
                        </a:rPr>
                        <a:t>A qubits (quantum bits) can hold a one, a zero or crucially a superposition of these.</a:t>
                      </a:r>
                    </a:p>
                  </a:txBody>
                  <a:tcPr marL="83938" marR="83938" marT="117513" marB="1175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66724755"/>
                  </a:ext>
                </a:extLst>
              </a:tr>
              <a:tr h="463316">
                <a:tc>
                  <a:txBody>
                    <a:bodyPr/>
                    <a:lstStyle/>
                    <a:p>
                      <a:pPr algn="ctr" fontAlgn="ctr"/>
                      <a:r>
                        <a:rPr lang="en-IN" sz="1100" b="0">
                          <a:effectLst/>
                          <a:latin typeface="Bookman Old Style" panose="02050604050505020204" pitchFamily="18" charset="0"/>
                        </a:rPr>
                        <a:t>Bits are used in classical computers.</a:t>
                      </a:r>
                    </a:p>
                  </a:txBody>
                  <a:tcPr marL="83938" marR="83938" marT="117513" marB="1175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dirty="0">
                          <a:effectLst/>
                          <a:latin typeface="Bookman Old Style" panose="02050604050505020204" pitchFamily="18" charset="0"/>
                        </a:rPr>
                        <a:t>Qubits(Quantum bits) are use in quantum computer</a:t>
                      </a:r>
                    </a:p>
                  </a:txBody>
                  <a:tcPr marL="83938" marR="83938" marT="117513" marB="1175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40861740"/>
                  </a:ext>
                </a:extLst>
              </a:tr>
              <a:tr h="463316">
                <a:tc>
                  <a:txBody>
                    <a:bodyPr/>
                    <a:lstStyle/>
                    <a:p>
                      <a:pPr algn="ctr" fontAlgn="ctr"/>
                      <a:r>
                        <a:rPr lang="en-IN" sz="1100" b="0" dirty="0">
                          <a:effectLst/>
                          <a:latin typeface="Bookman Old Style" panose="02050604050505020204" pitchFamily="18" charset="0"/>
                        </a:rPr>
                        <a:t>Bits are slow.</a:t>
                      </a:r>
                    </a:p>
                  </a:txBody>
                  <a:tcPr marL="83938" marR="83938" marT="117513" marB="1175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dirty="0">
                          <a:effectLst/>
                          <a:latin typeface="Bookman Old Style" panose="02050604050505020204" pitchFamily="18" charset="0"/>
                        </a:rPr>
                        <a:t>Qubits are faster.</a:t>
                      </a:r>
                    </a:p>
                  </a:txBody>
                  <a:tcPr marL="83938" marR="83938" marT="117513" marB="1175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94658386"/>
                  </a:ext>
                </a:extLst>
              </a:tr>
              <a:tr h="463316">
                <a:tc>
                  <a:txBody>
                    <a:bodyPr/>
                    <a:lstStyle/>
                    <a:p>
                      <a:pPr algn="ctr" fontAlgn="ctr"/>
                      <a:r>
                        <a:rPr lang="en-IN" sz="1100" b="0" dirty="0">
                          <a:effectLst/>
                          <a:latin typeface="Bookman Old Style" panose="02050604050505020204" pitchFamily="18" charset="0"/>
                        </a:rPr>
                        <a:t>Its circuit behaviour based on classical physics.</a:t>
                      </a:r>
                    </a:p>
                  </a:txBody>
                  <a:tcPr marL="83938" marR="83938" marT="117513" marB="1175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dirty="0">
                          <a:effectLst/>
                          <a:latin typeface="Bookman Old Style" panose="02050604050505020204" pitchFamily="18" charset="0"/>
                        </a:rPr>
                        <a:t>Its circuit behaviour based on quantum mechanics.</a:t>
                      </a:r>
                    </a:p>
                  </a:txBody>
                  <a:tcPr marL="83938" marR="83938" marT="117513" marB="1175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02221256"/>
                  </a:ext>
                </a:extLst>
              </a:tr>
            </a:tbl>
          </a:graphicData>
        </a:graphic>
      </p:graphicFrame>
      <p:pic>
        <p:nvPicPr>
          <p:cNvPr id="11" name="Picture 10">
            <a:extLst>
              <a:ext uri="{FF2B5EF4-FFF2-40B4-BE49-F238E27FC236}">
                <a16:creationId xmlns:a16="http://schemas.microsoft.com/office/drawing/2014/main" id="{038A62FE-DB6A-09BD-4836-04E49030AFB1}"/>
              </a:ext>
            </a:extLst>
          </p:cNvPr>
          <p:cNvPicPr>
            <a:picLocks noChangeAspect="1"/>
          </p:cNvPicPr>
          <p:nvPr/>
        </p:nvPicPr>
        <p:blipFill>
          <a:blip r:embed="rId5" cstate="print">
            <a:extLst>
              <a:ext uri="{BEBA8EAE-BF5A-486C-A8C5-ECC9F3942E4B}">
                <a14:imgProps xmlns:a14="http://schemas.microsoft.com/office/drawing/2010/main">
                  <a14:imgLayer r:embed="rId6">
                    <a14:imgEffect>
                      <a14:backgroundRemoval t="24434" b="93689" l="3946" r="36375">
                        <a14:foregroundMark x1="19112" y1="25566" x2="18989" y2="24595"/>
                        <a14:foregroundMark x1="18989" y1="24595" x2="18742" y2="27023"/>
                        <a14:foregroundMark x1="21085" y1="41100" x2="18619" y2="38673"/>
                        <a14:foregroundMark x1="20592" y1="80259" x2="21332" y2="76537"/>
                        <a14:foregroundMark x1="21332" y1="76537" x2="19482" y2="77184"/>
                        <a14:foregroundMark x1="19852" y1="93689" x2="19852" y2="91909"/>
                      </a14:backgroundRemoval>
                    </a14:imgEffect>
                  </a14:imgLayer>
                </a14:imgProps>
              </a:ext>
              <a:ext uri="{28A0092B-C50C-407E-A947-70E740481C1C}">
                <a14:useLocalDpi xmlns:a14="http://schemas.microsoft.com/office/drawing/2010/main" val="0"/>
              </a:ext>
            </a:extLst>
          </a:blip>
          <a:srcRect t="17132" r="59332"/>
          <a:stretch/>
        </p:blipFill>
        <p:spPr>
          <a:xfrm>
            <a:off x="2657234" y="4613706"/>
            <a:ext cx="1324216" cy="2056176"/>
          </a:xfrm>
          <a:prstGeom prst="rect">
            <a:avLst/>
          </a:prstGeom>
        </p:spPr>
      </p:pic>
      <p:pic>
        <p:nvPicPr>
          <p:cNvPr id="12" name="Picture 11">
            <a:extLst>
              <a:ext uri="{FF2B5EF4-FFF2-40B4-BE49-F238E27FC236}">
                <a16:creationId xmlns:a16="http://schemas.microsoft.com/office/drawing/2014/main" id="{AA96969C-36DC-ADAE-249E-E57768ABF3E9}"/>
              </a:ext>
            </a:extLst>
          </p:cNvPr>
          <p:cNvPicPr>
            <a:picLocks noChangeAspect="1"/>
          </p:cNvPicPr>
          <p:nvPr/>
        </p:nvPicPr>
        <p:blipFill>
          <a:blip r:embed="rId7" cstate="print">
            <a:extLst>
              <a:ext uri="{BEBA8EAE-BF5A-486C-A8C5-ECC9F3942E4B}">
                <a14:imgProps xmlns:a14="http://schemas.microsoft.com/office/drawing/2010/main">
                  <a14:imgLayer r:embed="rId6">
                    <a14:imgEffect>
                      <a14:backgroundRemoval t="19256" b="93366" l="48089" r="94205">
                        <a14:foregroundMark x1="72256" y1="25728" x2="73983" y2="24919"/>
                        <a14:foregroundMark x1="72996" y1="93366" x2="72996" y2="91262"/>
                      </a14:backgroundRemoval>
                    </a14:imgEffect>
                  </a14:imgLayer>
                </a14:imgProps>
              </a:ext>
              <a:ext uri="{28A0092B-C50C-407E-A947-70E740481C1C}">
                <a14:useLocalDpi xmlns:a14="http://schemas.microsoft.com/office/drawing/2010/main" val="0"/>
              </a:ext>
            </a:extLst>
          </a:blip>
          <a:srcRect l="42435" t="10441"/>
          <a:stretch/>
        </p:blipFill>
        <p:spPr>
          <a:xfrm>
            <a:off x="8039100" y="4575646"/>
            <a:ext cx="1798590" cy="2132297"/>
          </a:xfrm>
          <a:prstGeom prst="rect">
            <a:avLst/>
          </a:prstGeom>
        </p:spPr>
      </p:pic>
    </p:spTree>
    <p:extLst>
      <p:ext uri="{BB962C8B-B14F-4D97-AF65-F5344CB8AC3E}">
        <p14:creationId xmlns:p14="http://schemas.microsoft.com/office/powerpoint/2010/main" val="1735581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DA840E-FA8E-3A49-4C20-33FD7DFEBDB8}"/>
              </a:ext>
            </a:extLst>
          </p:cNvPr>
          <p:cNvSpPr/>
          <p:nvPr/>
        </p:nvSpPr>
        <p:spPr>
          <a:xfrm>
            <a:off x="-1123950" y="-266700"/>
            <a:ext cx="14611350" cy="76009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55E792F1-666F-0DC5-7A9C-8FB5940F7931}"/>
              </a:ext>
            </a:extLst>
          </p:cNvPr>
          <p:cNvSpPr/>
          <p:nvPr/>
        </p:nvSpPr>
        <p:spPr>
          <a:xfrm>
            <a:off x="-1276350" y="-419100"/>
            <a:ext cx="14611350" cy="76009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56874D74-C89C-2D24-7814-D6C7AB72A994}"/>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576210" y="-1658070"/>
            <a:ext cx="12935123" cy="12935123"/>
          </a:xfrm>
          <a:prstGeom prst="rect">
            <a:avLst/>
          </a:prstGeom>
        </p:spPr>
      </p:pic>
      <p:sp>
        <p:nvSpPr>
          <p:cNvPr id="8" name="Rectangle: Rounded Corners 7">
            <a:extLst>
              <a:ext uri="{FF2B5EF4-FFF2-40B4-BE49-F238E27FC236}">
                <a16:creationId xmlns:a16="http://schemas.microsoft.com/office/drawing/2014/main" id="{4246939F-5FAB-A75B-AFB7-F87E26AD3537}"/>
              </a:ext>
            </a:extLst>
          </p:cNvPr>
          <p:cNvSpPr/>
          <p:nvPr/>
        </p:nvSpPr>
        <p:spPr>
          <a:xfrm>
            <a:off x="262077" y="1160295"/>
            <a:ext cx="11450952" cy="4873838"/>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422A8AE7-0F3F-B5C6-A3EC-41C5161267C6}"/>
              </a:ext>
            </a:extLst>
          </p:cNvPr>
          <p:cNvSpPr/>
          <p:nvPr/>
        </p:nvSpPr>
        <p:spPr>
          <a:xfrm>
            <a:off x="-1799771" y="321133"/>
            <a:ext cx="4898804" cy="602791"/>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4" name="TextBox 3"/>
          <p:cNvSpPr txBox="1"/>
          <p:nvPr/>
        </p:nvSpPr>
        <p:spPr>
          <a:xfrm>
            <a:off x="294336" y="446870"/>
            <a:ext cx="2569934" cy="477054"/>
          </a:xfrm>
          <a:prstGeom prst="rect">
            <a:avLst/>
          </a:prstGeom>
          <a:noFill/>
        </p:spPr>
        <p:txBody>
          <a:bodyPr wrap="none" rtlCol="0">
            <a:spAutoFit/>
          </a:bodyPr>
          <a:lstStyle/>
          <a:p>
            <a:r>
              <a:rPr lang="en-IN" sz="2500" u="sng" dirty="0">
                <a:latin typeface="Bookman Old Style" panose="02050604050505020204" pitchFamily="18" charset="0"/>
              </a:rPr>
              <a:t>APPLICATIONS</a:t>
            </a:r>
          </a:p>
        </p:txBody>
      </p:sp>
      <p:sp>
        <p:nvSpPr>
          <p:cNvPr id="5" name="Rectangle 1">
            <a:extLst>
              <a:ext uri="{FF2B5EF4-FFF2-40B4-BE49-F238E27FC236}">
                <a16:creationId xmlns:a16="http://schemas.microsoft.com/office/drawing/2014/main" id="{DDF69AF5-D956-2F40-E610-C03BB68A884B}"/>
              </a:ext>
            </a:extLst>
          </p:cNvPr>
          <p:cNvSpPr>
            <a:spLocks noChangeArrowheads="1"/>
          </p:cNvSpPr>
          <p:nvPr/>
        </p:nvSpPr>
        <p:spPr bwMode="auto">
          <a:xfrm>
            <a:off x="649631" y="1952986"/>
            <a:ext cx="11315700"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dirty="0">
              <a:ln>
                <a:noFill/>
              </a:ln>
              <a:solidFill>
                <a:schemeClr val="tx1"/>
              </a:solidFill>
              <a:effectLst/>
              <a:latin typeface="Bookman Old Style" panose="0205060405050502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dirty="0">
                <a:ln>
                  <a:noFill/>
                </a:ln>
                <a:solidFill>
                  <a:schemeClr val="tx1"/>
                </a:solidFill>
                <a:effectLst/>
                <a:latin typeface="Bookman Old Style" panose="02050604050505020204" pitchFamily="18" charset="0"/>
              </a:rPr>
              <a:t>Cryptography</a:t>
            </a:r>
            <a:r>
              <a:rPr kumimoji="0" lang="en-US" altLang="en-US" sz="1800" b="0" i="0" u="none" strike="noStrike" cap="none" normalizeH="0" dirty="0">
                <a:ln>
                  <a:noFill/>
                </a:ln>
                <a:solidFill>
                  <a:schemeClr val="tx1"/>
                </a:solidFill>
                <a:effectLst/>
                <a:latin typeface="Bookman Old Style" panose="02050604050505020204" pitchFamily="18" charset="0"/>
              </a:rPr>
              <a:t> – Breaking and creating secure encryption methods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dirty="0">
                <a:ln>
                  <a:noFill/>
                </a:ln>
                <a:solidFill>
                  <a:schemeClr val="tx1"/>
                </a:solidFill>
                <a:effectLst/>
                <a:latin typeface="Bookman Old Style" panose="02050604050505020204" pitchFamily="18" charset="0"/>
              </a:rPr>
              <a:t>Drug Discovery &amp; Material Science</a:t>
            </a:r>
            <a:r>
              <a:rPr kumimoji="0" lang="en-US" altLang="en-US" sz="1800" b="0" i="0" u="none" strike="noStrike" cap="none" normalizeH="0" dirty="0">
                <a:ln>
                  <a:noFill/>
                </a:ln>
                <a:solidFill>
                  <a:schemeClr val="tx1"/>
                </a:solidFill>
                <a:effectLst/>
                <a:latin typeface="Bookman Old Style" panose="02050604050505020204" pitchFamily="18" charset="0"/>
              </a:rPr>
              <a:t> – Simulating molecules for new medicines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dirty="0">
                <a:ln>
                  <a:noFill/>
                </a:ln>
                <a:solidFill>
                  <a:schemeClr val="tx1"/>
                </a:solidFill>
                <a:effectLst/>
                <a:latin typeface="Bookman Old Style" panose="02050604050505020204" pitchFamily="18" charset="0"/>
              </a:rPr>
              <a:t>Optimization Problems</a:t>
            </a:r>
            <a:r>
              <a:rPr kumimoji="0" lang="en-US" altLang="en-US" sz="1800" b="0" i="0" u="none" strike="noStrike" cap="none" normalizeH="0" dirty="0">
                <a:ln>
                  <a:noFill/>
                </a:ln>
                <a:solidFill>
                  <a:schemeClr val="tx1"/>
                </a:solidFill>
                <a:effectLst/>
                <a:latin typeface="Bookman Old Style" panose="02050604050505020204" pitchFamily="18" charset="0"/>
              </a:rPr>
              <a:t> – Supply chain, logistics, and financial modeling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dirty="0">
                <a:ln>
                  <a:noFill/>
                </a:ln>
                <a:solidFill>
                  <a:schemeClr val="tx1"/>
                </a:solidFill>
                <a:effectLst/>
                <a:latin typeface="Bookman Old Style" panose="02050604050505020204" pitchFamily="18" charset="0"/>
              </a:rPr>
              <a:t>Artificial Intelligence (AI) &amp; Machine Learning</a:t>
            </a:r>
            <a:r>
              <a:rPr kumimoji="0" lang="en-US" altLang="en-US" sz="1800" b="0" i="0" u="none" strike="noStrike" cap="none" normalizeH="0" dirty="0">
                <a:ln>
                  <a:noFill/>
                </a:ln>
                <a:solidFill>
                  <a:schemeClr val="tx1"/>
                </a:solidFill>
                <a:effectLst/>
                <a:latin typeface="Bookman Old Style" panose="02050604050505020204" pitchFamily="18" charset="0"/>
              </a:rPr>
              <a:t> – Enhancing data processing and pattern recognition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dirty="0">
                <a:ln>
                  <a:noFill/>
                </a:ln>
                <a:solidFill>
                  <a:schemeClr val="tx1"/>
                </a:solidFill>
                <a:effectLst/>
                <a:latin typeface="Bookman Old Style" panose="02050604050505020204" pitchFamily="18" charset="0"/>
              </a:rPr>
              <a:t>Climate Modeling</a:t>
            </a:r>
            <a:r>
              <a:rPr kumimoji="0" lang="en-US" altLang="en-US" sz="1800" b="0" i="0" u="none" strike="noStrike" cap="none" normalizeH="0" dirty="0">
                <a:ln>
                  <a:noFill/>
                </a:ln>
                <a:solidFill>
                  <a:schemeClr val="tx1"/>
                </a:solidFill>
                <a:effectLst/>
                <a:latin typeface="Bookman Old Style" panose="02050604050505020204" pitchFamily="18" charset="0"/>
              </a:rPr>
              <a:t> – More accurate weather and environmental predictions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dirty="0">
                <a:ln>
                  <a:noFill/>
                </a:ln>
                <a:solidFill>
                  <a:schemeClr val="tx1"/>
                </a:solidFill>
                <a:effectLst/>
                <a:latin typeface="Bookman Old Style" panose="02050604050505020204" pitchFamily="18" charset="0"/>
              </a:rPr>
              <a:t>Financial Services</a:t>
            </a:r>
            <a:r>
              <a:rPr kumimoji="0" lang="en-US" altLang="en-US" sz="1800" b="0" i="0" u="none" strike="noStrike" cap="none" normalizeH="0" dirty="0">
                <a:ln>
                  <a:noFill/>
                </a:ln>
                <a:solidFill>
                  <a:schemeClr val="tx1"/>
                </a:solidFill>
                <a:effectLst/>
                <a:latin typeface="Bookman Old Style" panose="02050604050505020204" pitchFamily="18" charset="0"/>
              </a:rPr>
              <a:t> – Risk analysis, fraud detection, and portfolio optimization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dirty="0">
                <a:ln>
                  <a:noFill/>
                </a:ln>
                <a:solidFill>
                  <a:schemeClr val="tx1"/>
                </a:solidFill>
                <a:effectLst/>
                <a:latin typeface="Bookman Old Style" panose="02050604050505020204" pitchFamily="18" charset="0"/>
              </a:rPr>
              <a:t>Quantum Simulation</a:t>
            </a:r>
            <a:r>
              <a:rPr kumimoji="0" lang="en-US" altLang="en-US" sz="1800" b="0" i="0" u="none" strike="noStrike" cap="none" normalizeH="0" dirty="0">
                <a:ln>
                  <a:noFill/>
                </a:ln>
                <a:solidFill>
                  <a:schemeClr val="tx1"/>
                </a:solidFill>
                <a:effectLst/>
                <a:latin typeface="Bookman Old Style" panose="02050604050505020204" pitchFamily="18" charset="0"/>
              </a:rPr>
              <a:t> – Understanding complex quantum systems in physics and chemistry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dirty="0">
                <a:ln>
                  <a:noFill/>
                </a:ln>
                <a:solidFill>
                  <a:schemeClr val="tx1"/>
                </a:solidFill>
                <a:effectLst/>
                <a:latin typeface="Bookman Old Style" panose="02050604050505020204" pitchFamily="18" charset="0"/>
              </a:rPr>
              <a:t>Cybersecurity</a:t>
            </a:r>
            <a:r>
              <a:rPr kumimoji="0" lang="en-US" altLang="en-US" sz="1800" b="0" i="0" u="none" strike="noStrike" cap="none" normalizeH="0" dirty="0">
                <a:ln>
                  <a:noFill/>
                </a:ln>
                <a:solidFill>
                  <a:schemeClr val="tx1"/>
                </a:solidFill>
                <a:effectLst/>
                <a:latin typeface="Bookman Old Style" panose="02050604050505020204" pitchFamily="18" charset="0"/>
              </a:rPr>
              <a:t> – Developing quantum-resistant cryptographic techniques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dirty="0">
                <a:ln>
                  <a:noFill/>
                </a:ln>
                <a:solidFill>
                  <a:schemeClr val="tx1"/>
                </a:solidFill>
                <a:effectLst/>
                <a:latin typeface="Bookman Old Style" panose="02050604050505020204" pitchFamily="18" charset="0"/>
              </a:rPr>
              <a:t>Aerospace &amp; Defense</a:t>
            </a:r>
            <a:r>
              <a:rPr kumimoji="0" lang="en-US" altLang="en-US" sz="1800" b="0" i="0" u="none" strike="noStrike" cap="none" normalizeH="0" dirty="0">
                <a:ln>
                  <a:noFill/>
                </a:ln>
                <a:solidFill>
                  <a:schemeClr val="tx1"/>
                </a:solidFill>
                <a:effectLst/>
                <a:latin typeface="Bookman Old Style" panose="02050604050505020204" pitchFamily="18" charset="0"/>
              </a:rPr>
              <a:t> – Navigation systems and secure communication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dirty="0">
                <a:ln>
                  <a:noFill/>
                </a:ln>
                <a:solidFill>
                  <a:schemeClr val="tx1"/>
                </a:solidFill>
                <a:effectLst/>
                <a:latin typeface="Bookman Old Style" panose="02050604050505020204" pitchFamily="18" charset="0"/>
              </a:rPr>
              <a:t>Search Algorithms</a:t>
            </a:r>
            <a:r>
              <a:rPr kumimoji="0" lang="en-US" altLang="en-US" sz="1800" b="0" i="0" u="none" strike="noStrike" cap="none" normalizeH="0" dirty="0">
                <a:ln>
                  <a:noFill/>
                </a:ln>
                <a:solidFill>
                  <a:schemeClr val="tx1"/>
                </a:solidFill>
                <a:effectLst/>
                <a:latin typeface="Bookman Old Style" panose="02050604050505020204" pitchFamily="18" charset="0"/>
              </a:rPr>
              <a:t> – Faster data retrieval using quantum search methods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dirty="0">
              <a:ln>
                <a:noFill/>
              </a:ln>
              <a:solidFill>
                <a:schemeClr val="tx1"/>
              </a:solidFill>
              <a:effectLst/>
              <a:latin typeface="Bookman Old Style" panose="02050604050505020204" pitchFamily="18" charset="0"/>
            </a:endParaRPr>
          </a:p>
        </p:txBody>
      </p:sp>
      <p:sp>
        <p:nvSpPr>
          <p:cNvPr id="7" name="Rectangle: Rounded Corners 6">
            <a:extLst>
              <a:ext uri="{FF2B5EF4-FFF2-40B4-BE49-F238E27FC236}">
                <a16:creationId xmlns:a16="http://schemas.microsoft.com/office/drawing/2014/main" id="{73FB86E5-46FD-A4B1-3EF4-84E19AB84AF2}"/>
              </a:ext>
            </a:extLst>
          </p:cNvPr>
          <p:cNvSpPr/>
          <p:nvPr/>
        </p:nvSpPr>
        <p:spPr>
          <a:xfrm>
            <a:off x="-261258" y="6536867"/>
            <a:ext cx="14383657" cy="243797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19288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D96EDC-8E6C-5457-0161-FD7FD82D00B3}"/>
              </a:ext>
            </a:extLst>
          </p:cNvPr>
          <p:cNvSpPr/>
          <p:nvPr/>
        </p:nvSpPr>
        <p:spPr>
          <a:xfrm>
            <a:off x="-1276350" y="-419100"/>
            <a:ext cx="14611350" cy="76009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52CF2B9D-F876-3F4A-770D-EE8A17664C24}"/>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476587" y="-3760365"/>
            <a:ext cx="17430837" cy="17430837"/>
          </a:xfrm>
          <a:prstGeom prst="rect">
            <a:avLst/>
          </a:prstGeom>
        </p:spPr>
      </p:pic>
      <p:sp>
        <p:nvSpPr>
          <p:cNvPr id="6" name="Rectangle: Rounded Corners 5">
            <a:extLst>
              <a:ext uri="{FF2B5EF4-FFF2-40B4-BE49-F238E27FC236}">
                <a16:creationId xmlns:a16="http://schemas.microsoft.com/office/drawing/2014/main" id="{1415B8EE-88ED-6590-48DE-F265396D63D5}"/>
              </a:ext>
            </a:extLst>
          </p:cNvPr>
          <p:cNvSpPr/>
          <p:nvPr/>
        </p:nvSpPr>
        <p:spPr>
          <a:xfrm>
            <a:off x="-1799771" y="-290285"/>
            <a:ext cx="4898804" cy="1214210"/>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4" name="TextBox 3"/>
          <p:cNvSpPr txBox="1"/>
          <p:nvPr/>
        </p:nvSpPr>
        <p:spPr>
          <a:xfrm>
            <a:off x="333375" y="443350"/>
            <a:ext cx="2448106" cy="477054"/>
          </a:xfrm>
          <a:prstGeom prst="rect">
            <a:avLst/>
          </a:prstGeom>
          <a:noFill/>
        </p:spPr>
        <p:txBody>
          <a:bodyPr wrap="none" rtlCol="0">
            <a:spAutoFit/>
          </a:bodyPr>
          <a:lstStyle/>
          <a:p>
            <a:r>
              <a:rPr lang="en-IN" sz="2500" u="sng" dirty="0">
                <a:latin typeface="Bookman Old Style" panose="02050604050505020204" pitchFamily="18" charset="0"/>
              </a:rPr>
              <a:t>CHALLENGES</a:t>
            </a:r>
          </a:p>
        </p:txBody>
      </p:sp>
      <p:sp>
        <p:nvSpPr>
          <p:cNvPr id="5" name="Rectangle 4"/>
          <p:cNvSpPr/>
          <p:nvPr/>
        </p:nvSpPr>
        <p:spPr>
          <a:xfrm>
            <a:off x="400050" y="1584901"/>
            <a:ext cx="11334750" cy="6740307"/>
          </a:xfrm>
          <a:prstGeom prst="rect">
            <a:avLst/>
          </a:prstGeom>
        </p:spPr>
        <p:txBody>
          <a:bodyPr wrap="square">
            <a:spAutoFit/>
          </a:bodyPr>
          <a:lstStyle/>
          <a:p>
            <a:r>
              <a:rPr lang="en-IN" dirty="0"/>
              <a:t>1. </a:t>
            </a:r>
            <a:r>
              <a:rPr lang="en-IN" b="1" dirty="0"/>
              <a:t>Error Correction</a:t>
            </a:r>
          </a:p>
          <a:p>
            <a:r>
              <a:rPr lang="en-IN" dirty="0"/>
              <a:t>Quantum computers are extremely sensitive to noise and errors caused by interactions with their environment. </a:t>
            </a:r>
          </a:p>
          <a:p>
            <a:r>
              <a:rPr lang="en-IN" dirty="0"/>
              <a:t>This can cause errors to accumulate and degrade the quality of computation. </a:t>
            </a:r>
          </a:p>
          <a:p>
            <a:endParaRPr lang="en-IN" dirty="0"/>
          </a:p>
          <a:p>
            <a:r>
              <a:rPr lang="en-IN" dirty="0"/>
              <a:t>2. </a:t>
            </a:r>
            <a:r>
              <a:rPr lang="en-IN" b="1" dirty="0"/>
              <a:t>Scalability</a:t>
            </a:r>
          </a:p>
          <a:p>
            <a:r>
              <a:rPr lang="en-IN" dirty="0"/>
              <a:t>Scaling up quantum computers to hundreds or thousands of qubits while maintaining high levels of coherence and low error rates remains a major challenge.</a:t>
            </a:r>
          </a:p>
          <a:p>
            <a:endParaRPr lang="en-IN" dirty="0"/>
          </a:p>
          <a:p>
            <a:r>
              <a:rPr lang="en-IN" dirty="0"/>
              <a:t>3. </a:t>
            </a:r>
            <a:r>
              <a:rPr lang="en-IN" b="1" dirty="0"/>
              <a:t>Hardware Development</a:t>
            </a:r>
          </a:p>
          <a:p>
            <a:r>
              <a:rPr lang="en-IN" dirty="0"/>
              <a:t>Developing high-quality quantum hardware, such as qubits and control electronics, is challenging.</a:t>
            </a:r>
          </a:p>
          <a:p>
            <a:endParaRPr lang="en-IN" dirty="0"/>
          </a:p>
          <a:p>
            <a:r>
              <a:rPr lang="en-IN" dirty="0"/>
              <a:t>4. </a:t>
            </a:r>
            <a:r>
              <a:rPr lang="en-IN" b="1" dirty="0"/>
              <a:t>Software Development</a:t>
            </a:r>
          </a:p>
          <a:p>
            <a:r>
              <a:rPr lang="en-IN" dirty="0"/>
              <a:t>Quantum algorithms and software development tools are still in their infancy, and there is a need for new </a:t>
            </a:r>
          </a:p>
          <a:p>
            <a:r>
              <a:rPr lang="en-IN" dirty="0"/>
              <a:t>programming languages, compilers, and optimization tools that can effectively utilize the power of quantum computers.</a:t>
            </a:r>
          </a:p>
          <a:p>
            <a:endParaRPr lang="en-IN" dirty="0"/>
          </a:p>
          <a:p>
            <a:r>
              <a:rPr lang="en-IN" dirty="0"/>
              <a:t>7. </a:t>
            </a:r>
            <a:r>
              <a:rPr lang="en-IN" b="1" dirty="0"/>
              <a:t>Trained Talent</a:t>
            </a:r>
          </a:p>
          <a:p>
            <a:r>
              <a:rPr lang="en-IN" dirty="0"/>
              <a:t>The number of people properly educated and trained to enter the quantum workforce is small and spread across the world.</a:t>
            </a:r>
          </a:p>
          <a:p>
            <a:endParaRPr lang="en-IN" dirty="0"/>
          </a:p>
          <a:p>
            <a:endParaRPr lang="en-IN" dirty="0"/>
          </a:p>
          <a:p>
            <a:r>
              <a:rPr lang="en-IN" dirty="0"/>
              <a:t>8. Overall Expense</a:t>
            </a:r>
          </a:p>
          <a:p>
            <a:r>
              <a:rPr lang="en-IN" dirty="0"/>
              <a:t>expense remains a huge roadblock .Quantum talent is expensive. Quantum </a:t>
            </a:r>
          </a:p>
          <a:p>
            <a:r>
              <a:rPr lang="en-IN" dirty="0"/>
              <a:t>hardware is expensive. Supply chains are complex, vulnerable and — you guessed it — expensive to establish and maintain.</a:t>
            </a:r>
          </a:p>
        </p:txBody>
      </p:sp>
      <p:sp>
        <p:nvSpPr>
          <p:cNvPr id="9" name="Rectangle: Rounded Corners 8">
            <a:extLst>
              <a:ext uri="{FF2B5EF4-FFF2-40B4-BE49-F238E27FC236}">
                <a16:creationId xmlns:a16="http://schemas.microsoft.com/office/drawing/2014/main" id="{5476E86F-C1DE-9C49-60BE-98291705C7FD}"/>
              </a:ext>
            </a:extLst>
          </p:cNvPr>
          <p:cNvSpPr/>
          <p:nvPr/>
        </p:nvSpPr>
        <p:spPr>
          <a:xfrm>
            <a:off x="-696685" y="6667496"/>
            <a:ext cx="14819086" cy="243797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124100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C0C3251-F125-12B9-BFA8-EBA29CF6D321}"/>
              </a:ext>
            </a:extLst>
          </p:cNvPr>
          <p:cNvSpPr/>
          <p:nvPr/>
        </p:nvSpPr>
        <p:spPr>
          <a:xfrm>
            <a:off x="-1276350" y="-419100"/>
            <a:ext cx="14611350" cy="76009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C9B6C3E9-D50A-8E1D-B36D-4E3AAA7D63B9}"/>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400137" y="-2128877"/>
            <a:ext cx="12935123" cy="12935123"/>
          </a:xfrm>
          <a:prstGeom prst="rect">
            <a:avLst/>
          </a:prstGeom>
        </p:spPr>
      </p:pic>
      <p:sp>
        <p:nvSpPr>
          <p:cNvPr id="2" name="Rectangle: Rounded Corners 1">
            <a:extLst>
              <a:ext uri="{FF2B5EF4-FFF2-40B4-BE49-F238E27FC236}">
                <a16:creationId xmlns:a16="http://schemas.microsoft.com/office/drawing/2014/main" id="{6ED797DF-5188-43D4-143E-8ABD56529E79}"/>
              </a:ext>
            </a:extLst>
          </p:cNvPr>
          <p:cNvSpPr/>
          <p:nvPr/>
        </p:nvSpPr>
        <p:spPr>
          <a:xfrm>
            <a:off x="-1095829" y="2577227"/>
            <a:ext cx="14383657" cy="3522913"/>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959785E9-1BC5-C1DD-EC13-5215F1C46A26}"/>
              </a:ext>
            </a:extLst>
          </p:cNvPr>
          <p:cNvSpPr/>
          <p:nvPr/>
        </p:nvSpPr>
        <p:spPr>
          <a:xfrm>
            <a:off x="-1799771" y="-290285"/>
            <a:ext cx="16676914" cy="1214210"/>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4" name="TextBox 3"/>
          <p:cNvSpPr txBox="1"/>
          <p:nvPr/>
        </p:nvSpPr>
        <p:spPr>
          <a:xfrm>
            <a:off x="323160" y="417894"/>
            <a:ext cx="7475123" cy="477054"/>
          </a:xfrm>
          <a:prstGeom prst="rect">
            <a:avLst/>
          </a:prstGeom>
          <a:noFill/>
        </p:spPr>
        <p:txBody>
          <a:bodyPr wrap="none" rtlCol="0">
            <a:spAutoFit/>
          </a:bodyPr>
          <a:lstStyle/>
          <a:p>
            <a:r>
              <a:rPr lang="en-IN" sz="2500" u="sng" dirty="0">
                <a:latin typeface="Bookman Old Style" panose="02050604050505020204" pitchFamily="18" charset="0"/>
              </a:rPr>
              <a:t>CURRENT STATE OF QUANTUM COMPUTING</a:t>
            </a:r>
          </a:p>
        </p:txBody>
      </p:sp>
      <p:sp>
        <p:nvSpPr>
          <p:cNvPr id="5" name="TextBox 4"/>
          <p:cNvSpPr txBox="1"/>
          <p:nvPr/>
        </p:nvSpPr>
        <p:spPr>
          <a:xfrm>
            <a:off x="649632" y="2314328"/>
            <a:ext cx="11142318" cy="3416320"/>
          </a:xfrm>
          <a:prstGeom prst="rect">
            <a:avLst/>
          </a:prstGeom>
          <a:noFill/>
        </p:spPr>
        <p:txBody>
          <a:bodyPr wrap="square" rtlCol="0">
            <a:spAutoFit/>
          </a:bodyPr>
          <a:lstStyle/>
          <a:p>
            <a:r>
              <a:rPr lang="en-IN" dirty="0">
                <a:latin typeface="Bookman Old Style" panose="02050604050505020204" pitchFamily="18" charset="0"/>
              </a:rPr>
              <a:t>Several tech giants are interested in quantum computing</a:t>
            </a:r>
          </a:p>
          <a:p>
            <a:endParaRPr lang="en-IN" dirty="0">
              <a:latin typeface="Bookman Old Style" panose="02050604050505020204" pitchFamily="18" charset="0"/>
            </a:endParaRPr>
          </a:p>
          <a:p>
            <a:pPr marL="342900" indent="-342900">
              <a:buFont typeface="Arial" panose="020B0604020202020204" pitchFamily="34" charset="0"/>
              <a:buChar char="•"/>
            </a:pPr>
            <a:r>
              <a:rPr lang="en-IN" b="1" dirty="0">
                <a:latin typeface="Bookman Old Style" panose="02050604050505020204" pitchFamily="18" charset="0"/>
              </a:rPr>
              <a:t>IBM:</a:t>
            </a:r>
          </a:p>
          <a:p>
            <a:r>
              <a:rPr lang="en-IN" dirty="0">
                <a:latin typeface="Bookman Old Style" panose="02050604050505020204" pitchFamily="18" charset="0"/>
              </a:rPr>
              <a:t>	IBM quantum Experience allow the user to access real quantum computers via cloud</a:t>
            </a:r>
          </a:p>
          <a:p>
            <a:pPr marL="342900" indent="-342900">
              <a:buFont typeface="Arial" panose="020B0604020202020204" pitchFamily="34" charset="0"/>
              <a:buChar char="•"/>
            </a:pPr>
            <a:r>
              <a:rPr lang="en-IN" b="1" dirty="0">
                <a:latin typeface="Bookman Old Style" panose="02050604050505020204" pitchFamily="18" charset="0"/>
              </a:rPr>
              <a:t>Google:</a:t>
            </a:r>
          </a:p>
          <a:p>
            <a:r>
              <a:rPr lang="en-IN" dirty="0">
                <a:latin typeface="Bookman Old Style" panose="02050604050505020204" pitchFamily="18" charset="0"/>
              </a:rPr>
              <a:t>	developing superconducting qubit processor</a:t>
            </a:r>
          </a:p>
          <a:p>
            <a:r>
              <a:rPr lang="en-IN" dirty="0">
                <a:latin typeface="Bookman Old Style" panose="02050604050505020204" pitchFamily="18" charset="0"/>
              </a:rPr>
              <a:t>	focused on quantum error correction</a:t>
            </a:r>
          </a:p>
          <a:p>
            <a:pPr marL="342900" indent="-342900">
              <a:buFont typeface="Arial" panose="020B0604020202020204" pitchFamily="34" charset="0"/>
              <a:buChar char="•"/>
            </a:pPr>
            <a:r>
              <a:rPr lang="en-IN" b="1" dirty="0">
                <a:latin typeface="Bookman Old Style" panose="02050604050505020204" pitchFamily="18" charset="0"/>
              </a:rPr>
              <a:t>Intel:</a:t>
            </a:r>
          </a:p>
          <a:p>
            <a:r>
              <a:rPr lang="en-IN" dirty="0">
                <a:latin typeface="Bookman Old Style" panose="02050604050505020204" pitchFamily="18" charset="0"/>
              </a:rPr>
              <a:t>	developing spin qubits based silicon technology, which can be integrated with  existing 	semi conductor</a:t>
            </a:r>
          </a:p>
          <a:p>
            <a:pPr marL="342900" indent="-342900">
              <a:buFont typeface="Arial" panose="020B0604020202020204" pitchFamily="34" charset="0"/>
              <a:buChar char="•"/>
            </a:pPr>
            <a:r>
              <a:rPr lang="en-IN" b="1" dirty="0">
                <a:latin typeface="Bookman Old Style" panose="02050604050505020204" pitchFamily="18" charset="0"/>
              </a:rPr>
              <a:t>AWS brake:</a:t>
            </a:r>
          </a:p>
          <a:p>
            <a:r>
              <a:rPr lang="en-IN" dirty="0">
                <a:latin typeface="Bookman Old Style" panose="02050604050505020204" pitchFamily="18" charset="0"/>
              </a:rPr>
              <a:t>	provide cloud access to quantum processors from multiple vendors</a:t>
            </a:r>
          </a:p>
        </p:txBody>
      </p:sp>
    </p:spTree>
    <p:extLst>
      <p:ext uri="{BB962C8B-B14F-4D97-AF65-F5344CB8AC3E}">
        <p14:creationId xmlns:p14="http://schemas.microsoft.com/office/powerpoint/2010/main" val="1033749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C91431-46AD-E306-F2D1-C3A6C9267121}"/>
              </a:ext>
            </a:extLst>
          </p:cNvPr>
          <p:cNvSpPr/>
          <p:nvPr/>
        </p:nvSpPr>
        <p:spPr>
          <a:xfrm>
            <a:off x="-1276350" y="-419100"/>
            <a:ext cx="14611350" cy="760095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BF321A6A-CA00-E036-4EA7-D9020895C21F}"/>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371562" y="-6077123"/>
            <a:ext cx="12935123" cy="12935123"/>
          </a:xfrm>
          <a:prstGeom prst="rect">
            <a:avLst/>
          </a:prstGeom>
        </p:spPr>
      </p:pic>
      <p:sp>
        <p:nvSpPr>
          <p:cNvPr id="6" name="Rectangle: Rounded Corners 5">
            <a:extLst>
              <a:ext uri="{FF2B5EF4-FFF2-40B4-BE49-F238E27FC236}">
                <a16:creationId xmlns:a16="http://schemas.microsoft.com/office/drawing/2014/main" id="{C080086D-ABFD-A88A-70E4-E8259DFDA1AD}"/>
              </a:ext>
            </a:extLst>
          </p:cNvPr>
          <p:cNvSpPr/>
          <p:nvPr/>
        </p:nvSpPr>
        <p:spPr>
          <a:xfrm>
            <a:off x="362858" y="2162629"/>
            <a:ext cx="11364686" cy="2931886"/>
          </a:xfrm>
          <a:prstGeom prst="roundRect">
            <a:avLst/>
          </a:prstGeom>
          <a:solidFill>
            <a:schemeClr val="accent2">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CB9C011C-8264-C607-5012-9FB088D937D7}"/>
              </a:ext>
            </a:extLst>
          </p:cNvPr>
          <p:cNvSpPr/>
          <p:nvPr/>
        </p:nvSpPr>
        <p:spPr>
          <a:xfrm>
            <a:off x="3933371" y="595086"/>
            <a:ext cx="4252686" cy="1030514"/>
          </a:xfrm>
          <a:prstGeom prst="round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p>
        </p:txBody>
      </p:sp>
      <p:sp>
        <p:nvSpPr>
          <p:cNvPr id="4" name="TextBox 3"/>
          <p:cNvSpPr txBox="1"/>
          <p:nvPr/>
        </p:nvSpPr>
        <p:spPr>
          <a:xfrm>
            <a:off x="4667564" y="847272"/>
            <a:ext cx="2856872" cy="553998"/>
          </a:xfrm>
          <a:prstGeom prst="rect">
            <a:avLst/>
          </a:prstGeom>
          <a:noFill/>
        </p:spPr>
        <p:txBody>
          <a:bodyPr wrap="none" rtlCol="0">
            <a:spAutoFit/>
          </a:bodyPr>
          <a:lstStyle/>
          <a:p>
            <a:r>
              <a:rPr lang="en-IN" sz="3000" u="sng" dirty="0">
                <a:latin typeface="Bookman Old Style" panose="02050604050505020204" pitchFamily="18" charset="0"/>
              </a:rPr>
              <a:t>CONCLUSION</a:t>
            </a:r>
          </a:p>
        </p:txBody>
      </p:sp>
      <p:sp>
        <p:nvSpPr>
          <p:cNvPr id="5" name="TextBox 4">
            <a:extLst>
              <a:ext uri="{FF2B5EF4-FFF2-40B4-BE49-F238E27FC236}">
                <a16:creationId xmlns:a16="http://schemas.microsoft.com/office/drawing/2014/main" id="{58B587FE-3A0B-E1E2-2C58-E0751EA406A3}"/>
              </a:ext>
            </a:extLst>
          </p:cNvPr>
          <p:cNvSpPr txBox="1"/>
          <p:nvPr/>
        </p:nvSpPr>
        <p:spPr>
          <a:xfrm>
            <a:off x="464457" y="2613392"/>
            <a:ext cx="11190514" cy="2015936"/>
          </a:xfrm>
          <a:prstGeom prst="rect">
            <a:avLst/>
          </a:prstGeom>
          <a:noFill/>
        </p:spPr>
        <p:txBody>
          <a:bodyPr wrap="square">
            <a:spAutoFit/>
          </a:bodyPr>
          <a:lstStyle/>
          <a:p>
            <a:pPr algn="ctr"/>
            <a:r>
              <a:rPr lang="en-US" sz="2500" dirty="0">
                <a:latin typeface="Bookman Old Style" panose="02050604050505020204" pitchFamily="18" charset="0"/>
              </a:rPr>
              <a:t>While challenges like </a:t>
            </a:r>
            <a:r>
              <a:rPr lang="en-US" sz="2500" b="1" dirty="0">
                <a:latin typeface="Bookman Old Style" panose="02050604050505020204" pitchFamily="18" charset="0"/>
              </a:rPr>
              <a:t>error correction , scalability, and stability</a:t>
            </a:r>
            <a:r>
              <a:rPr lang="en-US" sz="2500" dirty="0">
                <a:latin typeface="Bookman Old Style" panose="02050604050505020204" pitchFamily="18" charset="0"/>
              </a:rPr>
              <a:t> remain, quantum computing has the potential to revolutionize fields such as </a:t>
            </a:r>
            <a:r>
              <a:rPr lang="en-US" sz="2500" b="1" dirty="0">
                <a:latin typeface="Bookman Old Style" panose="02050604050505020204" pitchFamily="18" charset="0"/>
              </a:rPr>
              <a:t>cryptography, drug discovery, AI, and optimization</a:t>
            </a:r>
            <a:r>
              <a:rPr lang="en-US" sz="2500" dirty="0">
                <a:latin typeface="Bookman Old Style" panose="02050604050505020204" pitchFamily="18" charset="0"/>
              </a:rPr>
              <a:t>. As research progresses, we are moving closer to unlocking its full potential, shaping the future of computing.</a:t>
            </a:r>
            <a:endParaRPr lang="en-IN" sz="2500" dirty="0">
              <a:latin typeface="Bookman Old Style" panose="02050604050505020204" pitchFamily="18" charset="0"/>
            </a:endParaRPr>
          </a:p>
        </p:txBody>
      </p:sp>
    </p:spTree>
    <p:extLst>
      <p:ext uri="{BB962C8B-B14F-4D97-AF65-F5344CB8AC3E}">
        <p14:creationId xmlns:p14="http://schemas.microsoft.com/office/powerpoint/2010/main" val="15838999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795</Words>
  <Application>Microsoft Office PowerPoint</Application>
  <PresentationFormat>Widescreen</PresentationFormat>
  <Paragraphs>88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Bookman Old Style</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basil mathew</cp:lastModifiedBy>
  <cp:revision>28</cp:revision>
  <dcterms:created xsi:type="dcterms:W3CDTF">2025-02-24T10:10:51Z</dcterms:created>
  <dcterms:modified xsi:type="dcterms:W3CDTF">2025-02-28T15:57:50Z</dcterms:modified>
</cp:coreProperties>
</file>