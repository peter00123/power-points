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1" autoAdjust="0"/>
    <p:restoredTop sz="94660"/>
  </p:normalViewPr>
  <p:slideViewPr>
    <p:cSldViewPr snapToGrid="0">
      <p:cViewPr varScale="1">
        <p:scale>
          <a:sx n="102" d="100"/>
          <a:sy n="102" d="100"/>
        </p:scale>
        <p:origin x="11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54700-7FB4-905E-E8E3-3D02873429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8E3EA-4CFC-4F6D-15D2-93FB489337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53D882-1B0C-31A0-9C2A-F2B096B3F515}"/>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1C2091A5-D252-70B5-1625-083273F684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10002B-B6C9-7A3C-D73A-357E9EEE5725}"/>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7964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7FB7E-B615-8697-5E71-1FE81107AD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B030AA-CC95-95E3-6749-F9F19FA372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17751-637A-3C67-D888-6F65403E5430}"/>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642AE1DD-CE9F-2C67-76A4-6098FD9AB9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396549-8735-BC63-6A55-AFC7DB650C30}"/>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7636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1B3C-3F29-5BEA-0728-6BB89F07C5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F52F2C-5A41-D119-831E-5E374E62EA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F32D16-F5A6-011F-8B8C-18575BDBE6D6}"/>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3E6EA286-4CD7-484C-3058-6EA3519E78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0FF124-A1C9-47F8-43CB-4C34E6918D23}"/>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28405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AED1E-503F-801F-38F4-E1615FA6C0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02530-1B26-7ACB-0DCF-2BD933621F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C98EB9-37A4-8663-D30C-86B3722FF9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66AF89-77B5-FC58-7652-7966005AC24F}"/>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6" name="Footer Placeholder 5">
            <a:extLst>
              <a:ext uri="{FF2B5EF4-FFF2-40B4-BE49-F238E27FC236}">
                <a16:creationId xmlns:a16="http://schemas.microsoft.com/office/drawing/2014/main" id="{C4BE1F95-89A1-6E7B-5817-9D2E7877B4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79B444-F493-CD95-250B-837E1526C1E1}"/>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121844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283C8-C4C0-10CB-DD00-3ED9107501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C9C865-8C2A-8DD9-E9C2-12D457F20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FA358E-1276-9BC9-A7BA-431CC50678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26CFD2-AB06-54E3-9581-5F8C88D5F0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57897-4287-3CD9-214B-CFBA6E3FC7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9C69AE-3246-DBBD-F7BE-0E559E904D37}"/>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8" name="Footer Placeholder 7">
            <a:extLst>
              <a:ext uri="{FF2B5EF4-FFF2-40B4-BE49-F238E27FC236}">
                <a16:creationId xmlns:a16="http://schemas.microsoft.com/office/drawing/2014/main" id="{DE778445-1549-5B1F-C28C-3B8A41A9EC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D463D0-E27C-35AB-A2FA-F208D83904C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2367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86F1-629E-B31C-6DB7-6B60893083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502193-0AB9-B7AE-6901-8626B16DEAC7}"/>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4" name="Footer Placeholder 3">
            <a:extLst>
              <a:ext uri="{FF2B5EF4-FFF2-40B4-BE49-F238E27FC236}">
                <a16:creationId xmlns:a16="http://schemas.microsoft.com/office/drawing/2014/main" id="{BF8837C9-4C7E-B93B-3131-4B62B5E03B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D25B4-A3C6-4537-CC8B-98F192E24B59}"/>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2698365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01070E-F654-1132-7319-921E051E6636}"/>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3" name="Footer Placeholder 2">
            <a:extLst>
              <a:ext uri="{FF2B5EF4-FFF2-40B4-BE49-F238E27FC236}">
                <a16:creationId xmlns:a16="http://schemas.microsoft.com/office/drawing/2014/main" id="{2581CC52-4204-8F2C-985F-5C0EB563AE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487301-DF94-709C-E36E-D009AE996A1F}"/>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1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88D4-4ABB-E7EF-6D3E-85432A115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5FDF24-427F-743E-86A7-467EAC771B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956454-82C4-C14F-9BB3-5EDC3F384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A5F5E-33FB-B5AB-AA19-9F96738FEEA7}"/>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6" name="Footer Placeholder 5">
            <a:extLst>
              <a:ext uri="{FF2B5EF4-FFF2-40B4-BE49-F238E27FC236}">
                <a16:creationId xmlns:a16="http://schemas.microsoft.com/office/drawing/2014/main" id="{7C27BCA7-73DC-C22C-68A9-10DF56AA75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ACB3F8-1F36-BF4C-9B49-3213340F6094}"/>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416253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E3606-EA5A-A2E6-F75F-CD1449569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9938AD-BBE9-029B-FE41-E44E0B23AC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2A5FFA-0368-B7BE-8D7C-F466FD2E3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EBE13-F608-9148-4272-C2B7DF935D5E}"/>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6" name="Footer Placeholder 5">
            <a:extLst>
              <a:ext uri="{FF2B5EF4-FFF2-40B4-BE49-F238E27FC236}">
                <a16:creationId xmlns:a16="http://schemas.microsoft.com/office/drawing/2014/main" id="{27C00ECA-49BB-40EA-3EC0-317449DFD1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7F7EB5-F2D4-7139-92FC-DA651F4D9F9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041899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08DE0-5201-FA03-C630-90F4C74D1F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CC3184-F7BB-66D5-5577-F3D9F767CD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DEFCF9-1CB3-9C27-27AF-1E9220D83D49}"/>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36B9C74E-A4B1-AA45-9B6C-510889F1DE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95D86-4427-EFA7-F61A-5BCD3F83790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40116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18CCC8-B073-F94C-BCE1-8E875C9F1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EBDA50-9C45-3915-05BB-650844787F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F8BC11-A0F9-11C8-9D85-4A9AB4F9E520}"/>
              </a:ext>
            </a:extLst>
          </p:cNvPr>
          <p:cNvSpPr>
            <a:spLocks noGrp="1"/>
          </p:cNvSpPr>
          <p:nvPr>
            <p:ph type="dt" sz="half" idx="10"/>
          </p:nvPr>
        </p:nvSpPr>
        <p:spPr/>
        <p:txBody>
          <a:body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D70AAA17-CDC8-9E04-B791-A3EEAA0FD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B39766-7EDC-4774-C589-E0E54BB6B6A8}"/>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254012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C5BAC-BD2D-29CA-D07B-8F095EE85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4D00BB-A372-B977-DF39-E34488AAE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E6AA4-7005-1844-F351-40D81171F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4B46D-00AD-4FDB-B1C8-2FE01B2FA510}" type="datetimeFigureOut">
              <a:rPr lang="en-IN" smtClean="0"/>
              <a:t>03-09-2024</a:t>
            </a:fld>
            <a:endParaRPr lang="en-IN"/>
          </a:p>
        </p:txBody>
      </p:sp>
      <p:sp>
        <p:nvSpPr>
          <p:cNvPr id="5" name="Footer Placeholder 4">
            <a:extLst>
              <a:ext uri="{FF2B5EF4-FFF2-40B4-BE49-F238E27FC236}">
                <a16:creationId xmlns:a16="http://schemas.microsoft.com/office/drawing/2014/main" id="{794BF1B7-5918-14A0-1D6B-60946ECE7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B217A3-770D-D298-D75F-2930B002CB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31565-742C-4E9A-B907-180430B740CC}" type="slidenum">
              <a:rPr lang="en-IN" smtClean="0"/>
              <a:t>‹#›</a:t>
            </a:fld>
            <a:endParaRPr lang="en-IN"/>
          </a:p>
        </p:txBody>
      </p:sp>
    </p:spTree>
    <p:extLst>
      <p:ext uri="{BB962C8B-B14F-4D97-AF65-F5344CB8AC3E}">
        <p14:creationId xmlns:p14="http://schemas.microsoft.com/office/powerpoint/2010/main" val="948014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8E16B6F-5F45-B959-C153-9563D276E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254"/>
            <a:ext cx="23431500" cy="14644688"/>
          </a:xfrm>
          <a:prstGeom prst="rect">
            <a:avLst/>
          </a:prstGeom>
        </p:spPr>
      </p:pic>
      <p:sp>
        <p:nvSpPr>
          <p:cNvPr id="10" name="Rectangle 9">
            <a:extLst>
              <a:ext uri="{FF2B5EF4-FFF2-40B4-BE49-F238E27FC236}">
                <a16:creationId xmlns:a16="http://schemas.microsoft.com/office/drawing/2014/main" id="{1D7A2907-ED4D-D4E5-AEC5-AA390D21ED35}"/>
              </a:ext>
            </a:extLst>
          </p:cNvPr>
          <p:cNvSpPr/>
          <p:nvPr/>
        </p:nvSpPr>
        <p:spPr>
          <a:xfrm>
            <a:off x="-212274" y="-1089547"/>
            <a:ext cx="12729029" cy="8222470"/>
          </a:xfrm>
          <a:prstGeom prst="rect">
            <a:avLst/>
          </a:prstGeom>
          <a:solidFill>
            <a:srgbClr val="000000">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96A8716-5F81-F607-0F2C-D174F886E623}"/>
              </a:ext>
            </a:extLst>
          </p:cNvPr>
          <p:cNvSpPr txBox="1"/>
          <p:nvPr/>
        </p:nvSpPr>
        <p:spPr>
          <a:xfrm>
            <a:off x="5791200" y="4633361"/>
            <a:ext cx="4976865" cy="1077218"/>
          </a:xfrm>
          <a:prstGeom prst="rect">
            <a:avLst/>
          </a:prstGeom>
          <a:noFill/>
        </p:spPr>
        <p:txBody>
          <a:bodyPr wrap="square">
            <a:spAutoFit/>
          </a:bodyPr>
          <a:lstStyle/>
          <a:p>
            <a:pPr algn="ctr"/>
            <a:r>
              <a:rPr lang="en-IN" sz="3200" dirty="0">
                <a:solidFill>
                  <a:schemeClr val="bg1"/>
                </a:solidFill>
              </a:rPr>
              <a:t>By</a:t>
            </a:r>
            <a:endParaRPr lang="en-IN" sz="3200" b="1" dirty="0">
              <a:solidFill>
                <a:schemeClr val="bg1"/>
              </a:solidFill>
            </a:endParaRPr>
          </a:p>
          <a:p>
            <a:r>
              <a:rPr lang="en-IN" sz="3200" b="1" dirty="0">
                <a:solidFill>
                  <a:schemeClr val="bg1"/>
                </a:solidFill>
              </a:rPr>
              <a:t> </a:t>
            </a:r>
            <a:r>
              <a:rPr lang="en-IN" sz="3200" b="1" dirty="0" err="1">
                <a:solidFill>
                  <a:schemeClr val="bg1"/>
                </a:solidFill>
              </a:rPr>
              <a:t>Sandeepa</a:t>
            </a:r>
            <a:r>
              <a:rPr lang="en-IN" sz="3200" b="1" dirty="0">
                <a:solidFill>
                  <a:schemeClr val="bg1"/>
                </a:solidFill>
              </a:rPr>
              <a:t> Mukherjee Datta</a:t>
            </a:r>
          </a:p>
        </p:txBody>
      </p:sp>
      <p:pic>
        <p:nvPicPr>
          <p:cNvPr id="15" name="Picture 14">
            <a:extLst>
              <a:ext uri="{FF2B5EF4-FFF2-40B4-BE49-F238E27FC236}">
                <a16:creationId xmlns:a16="http://schemas.microsoft.com/office/drawing/2014/main" id="{F224657B-EEEE-571C-5764-9846B0AF4B48}"/>
              </a:ext>
            </a:extLst>
          </p:cNvPr>
          <p:cNvPicPr>
            <a:picLocks noChangeAspect="1"/>
          </p:cNvPicPr>
          <p:nvPr/>
        </p:nvPicPr>
        <p:blipFill>
          <a:blip r:embed="rId3">
            <a:extLst>
              <a:ext uri="{28A0092B-C50C-407E-A947-70E740481C1C}">
                <a14:useLocalDpi xmlns:a14="http://schemas.microsoft.com/office/drawing/2010/main" val="0"/>
              </a:ext>
            </a:extLst>
          </a:blip>
          <a:srcRect l="27375" t="-1482" r="23942" b="16983"/>
          <a:stretch/>
        </p:blipFill>
        <p:spPr>
          <a:xfrm>
            <a:off x="7025941" y="1831063"/>
            <a:ext cx="2613358" cy="2381250"/>
          </a:xfrm>
          <a:prstGeom prst="rect">
            <a:avLst/>
          </a:prstGeom>
        </p:spPr>
      </p:pic>
      <p:pic>
        <p:nvPicPr>
          <p:cNvPr id="19" name="Picture 18">
            <a:extLst>
              <a:ext uri="{FF2B5EF4-FFF2-40B4-BE49-F238E27FC236}">
                <a16:creationId xmlns:a16="http://schemas.microsoft.com/office/drawing/2014/main" id="{347A079E-7A79-6CF3-494C-56B72A76D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890" y="1307560"/>
            <a:ext cx="2786114" cy="4247125"/>
          </a:xfrm>
          <a:prstGeom prst="rect">
            <a:avLst/>
          </a:prstGeom>
        </p:spPr>
      </p:pic>
      <p:sp>
        <p:nvSpPr>
          <p:cNvPr id="20" name="Rectangle 19">
            <a:extLst>
              <a:ext uri="{FF2B5EF4-FFF2-40B4-BE49-F238E27FC236}">
                <a16:creationId xmlns:a16="http://schemas.microsoft.com/office/drawing/2014/main" id="{421C7F5F-E144-F6C9-75AB-EF469BF9E776}"/>
              </a:ext>
            </a:extLst>
          </p:cNvPr>
          <p:cNvSpPr/>
          <p:nvPr/>
        </p:nvSpPr>
        <p:spPr>
          <a:xfrm>
            <a:off x="7021178" y="1818144"/>
            <a:ext cx="2672341" cy="462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D57FF7BF-FEE6-3FCE-E2B8-62B18B101211}"/>
              </a:ext>
            </a:extLst>
          </p:cNvPr>
          <p:cNvSpPr/>
          <p:nvPr/>
        </p:nvSpPr>
        <p:spPr>
          <a:xfrm>
            <a:off x="7025941" y="4166054"/>
            <a:ext cx="2667578" cy="462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3918C1D7-D42F-BC1F-5930-95CF2E80D9DC}"/>
              </a:ext>
            </a:extLst>
          </p:cNvPr>
          <p:cNvSpPr/>
          <p:nvPr/>
        </p:nvSpPr>
        <p:spPr>
          <a:xfrm rot="5400000">
            <a:off x="5805996" y="2992370"/>
            <a:ext cx="2394168" cy="45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6A087C1A-D953-BF59-8DE6-62C67E6DDAE2}"/>
              </a:ext>
            </a:extLst>
          </p:cNvPr>
          <p:cNvSpPr/>
          <p:nvPr/>
        </p:nvSpPr>
        <p:spPr>
          <a:xfrm rot="5400000">
            <a:off x="8473574" y="2992370"/>
            <a:ext cx="2394169" cy="45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3FE531B3-E420-5B54-2007-22FFA325F24C}"/>
              </a:ext>
            </a:extLst>
          </p:cNvPr>
          <p:cNvSpPr/>
          <p:nvPr/>
        </p:nvSpPr>
        <p:spPr>
          <a:xfrm>
            <a:off x="12557713" y="0"/>
            <a:ext cx="6664068" cy="7132923"/>
          </a:xfrm>
          <a:prstGeom prst="rect">
            <a:avLst/>
          </a:prstGeom>
          <a:solidFill>
            <a:srgbClr val="000000">
              <a:alpha val="40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BDB6E3E-4356-5E4C-10AF-7FF5B0229316}"/>
              </a:ext>
            </a:extLst>
          </p:cNvPr>
          <p:cNvSpPr txBox="1"/>
          <p:nvPr/>
        </p:nvSpPr>
        <p:spPr>
          <a:xfrm>
            <a:off x="14009354" y="3250939"/>
            <a:ext cx="4931561" cy="1569660"/>
          </a:xfrm>
          <a:prstGeom prst="rect">
            <a:avLst/>
          </a:prstGeom>
          <a:noFill/>
        </p:spPr>
        <p:txBody>
          <a:bodyPr wrap="square">
            <a:spAutoFit/>
          </a:bodyPr>
          <a:lstStyle/>
          <a:p>
            <a:pPr algn="ctr"/>
            <a:r>
              <a:rPr lang="en-US" sz="1600" dirty="0" err="1">
                <a:solidFill>
                  <a:schemeClr val="bg1"/>
                </a:solidFill>
              </a:rPr>
              <a:t>Sandeepa</a:t>
            </a:r>
            <a:r>
              <a:rPr lang="en-US" sz="1600" dirty="0">
                <a:solidFill>
                  <a:schemeClr val="bg1"/>
                </a:solidFill>
              </a:rPr>
              <a:t> Mukherjee Datta is Bong Mom, the nom de plume behind the very popular blog 'Bong Mom's Cookbook'. She has been entertaining her readers with food and stories for over ten years and is the go-to source for Bengali cooking on the web. An engineer by profession, she lives with her family in New Jersey, USA.</a:t>
            </a:r>
            <a:endParaRPr lang="en-IN" sz="1600" dirty="0">
              <a:solidFill>
                <a:schemeClr val="bg1"/>
              </a:solidFill>
            </a:endParaRPr>
          </a:p>
        </p:txBody>
      </p:sp>
      <p:sp>
        <p:nvSpPr>
          <p:cNvPr id="26" name="TextBox 25">
            <a:extLst>
              <a:ext uri="{FF2B5EF4-FFF2-40B4-BE49-F238E27FC236}">
                <a16:creationId xmlns:a16="http://schemas.microsoft.com/office/drawing/2014/main" id="{2E0EC8FB-88FD-9A67-0E2B-9ED14EF4788D}"/>
              </a:ext>
            </a:extLst>
          </p:cNvPr>
          <p:cNvSpPr txBox="1"/>
          <p:nvPr/>
        </p:nvSpPr>
        <p:spPr>
          <a:xfrm>
            <a:off x="14290219" y="2515997"/>
            <a:ext cx="4369830" cy="523220"/>
          </a:xfrm>
          <a:prstGeom prst="rect">
            <a:avLst/>
          </a:prstGeom>
          <a:noFill/>
        </p:spPr>
        <p:txBody>
          <a:bodyPr wrap="square">
            <a:spAutoFit/>
          </a:bodyPr>
          <a:lstStyle/>
          <a:p>
            <a:r>
              <a:rPr lang="en-US" sz="2800" dirty="0" err="1">
                <a:solidFill>
                  <a:schemeClr val="bg1"/>
                </a:solidFill>
              </a:rPr>
              <a:t>Sandeepa</a:t>
            </a:r>
            <a:r>
              <a:rPr lang="en-US" sz="2800" dirty="0">
                <a:solidFill>
                  <a:schemeClr val="bg1"/>
                </a:solidFill>
              </a:rPr>
              <a:t> </a:t>
            </a:r>
            <a:r>
              <a:rPr lang="en-US" sz="2400" dirty="0">
                <a:solidFill>
                  <a:schemeClr val="bg1"/>
                </a:solidFill>
              </a:rPr>
              <a:t>Mukherjee</a:t>
            </a:r>
            <a:r>
              <a:rPr lang="en-US" sz="2800" dirty="0">
                <a:solidFill>
                  <a:schemeClr val="bg1"/>
                </a:solidFill>
              </a:rPr>
              <a:t> Datta </a:t>
            </a:r>
            <a:endParaRPr lang="en-IN" sz="2800" dirty="0"/>
          </a:p>
        </p:txBody>
      </p:sp>
    </p:spTree>
    <p:extLst>
      <p:ext uri="{BB962C8B-B14F-4D97-AF65-F5344CB8AC3E}">
        <p14:creationId xmlns:p14="http://schemas.microsoft.com/office/powerpoint/2010/main" val="28716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1+#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8E16B6F-5F45-B959-C153-9563D276E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4653" y="0"/>
            <a:ext cx="23431500" cy="14644688"/>
          </a:xfrm>
          <a:prstGeom prst="rect">
            <a:avLst/>
          </a:prstGeom>
        </p:spPr>
      </p:pic>
      <p:sp>
        <p:nvSpPr>
          <p:cNvPr id="10" name="Rectangle 9">
            <a:extLst>
              <a:ext uri="{FF2B5EF4-FFF2-40B4-BE49-F238E27FC236}">
                <a16:creationId xmlns:a16="http://schemas.microsoft.com/office/drawing/2014/main" id="{1D7A2907-ED4D-D4E5-AEC5-AA390D21ED35}"/>
              </a:ext>
            </a:extLst>
          </p:cNvPr>
          <p:cNvSpPr/>
          <p:nvPr/>
        </p:nvSpPr>
        <p:spPr>
          <a:xfrm>
            <a:off x="-212274" y="-1089547"/>
            <a:ext cx="12729029" cy="8222470"/>
          </a:xfrm>
          <a:prstGeom prst="rect">
            <a:avLst/>
          </a:prstGeom>
          <a:solidFill>
            <a:srgbClr val="000000">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96A8716-5F81-F607-0F2C-D174F886E623}"/>
              </a:ext>
            </a:extLst>
          </p:cNvPr>
          <p:cNvSpPr txBox="1"/>
          <p:nvPr/>
        </p:nvSpPr>
        <p:spPr>
          <a:xfrm>
            <a:off x="-5363453" y="4673615"/>
            <a:ext cx="4976865" cy="1077218"/>
          </a:xfrm>
          <a:prstGeom prst="rect">
            <a:avLst/>
          </a:prstGeom>
          <a:noFill/>
        </p:spPr>
        <p:txBody>
          <a:bodyPr wrap="square">
            <a:spAutoFit/>
          </a:bodyPr>
          <a:lstStyle/>
          <a:p>
            <a:pPr algn="ctr"/>
            <a:r>
              <a:rPr lang="en-IN" sz="3200" dirty="0">
                <a:solidFill>
                  <a:schemeClr val="bg1"/>
                </a:solidFill>
              </a:rPr>
              <a:t>By</a:t>
            </a:r>
            <a:endParaRPr lang="en-IN" sz="3200" b="1" dirty="0">
              <a:solidFill>
                <a:schemeClr val="bg1"/>
              </a:solidFill>
            </a:endParaRPr>
          </a:p>
          <a:p>
            <a:r>
              <a:rPr lang="en-IN" sz="3200" b="1" dirty="0">
                <a:solidFill>
                  <a:schemeClr val="bg1"/>
                </a:solidFill>
              </a:rPr>
              <a:t> </a:t>
            </a:r>
            <a:r>
              <a:rPr lang="en-IN" sz="3200" b="1" dirty="0" err="1">
                <a:solidFill>
                  <a:schemeClr val="bg1"/>
                </a:solidFill>
              </a:rPr>
              <a:t>Sandeepa</a:t>
            </a:r>
            <a:r>
              <a:rPr lang="en-IN" sz="3200" b="1" dirty="0">
                <a:solidFill>
                  <a:schemeClr val="bg1"/>
                </a:solidFill>
              </a:rPr>
              <a:t> Mukherjee Datta</a:t>
            </a:r>
          </a:p>
        </p:txBody>
      </p:sp>
      <p:pic>
        <p:nvPicPr>
          <p:cNvPr id="15" name="Picture 14">
            <a:extLst>
              <a:ext uri="{FF2B5EF4-FFF2-40B4-BE49-F238E27FC236}">
                <a16:creationId xmlns:a16="http://schemas.microsoft.com/office/drawing/2014/main" id="{F224657B-EEEE-571C-5764-9846B0AF4B48}"/>
              </a:ext>
            </a:extLst>
          </p:cNvPr>
          <p:cNvPicPr>
            <a:picLocks noChangeAspect="1"/>
          </p:cNvPicPr>
          <p:nvPr/>
        </p:nvPicPr>
        <p:blipFill>
          <a:blip r:embed="rId3">
            <a:extLst>
              <a:ext uri="{28A0092B-C50C-407E-A947-70E740481C1C}">
                <a14:useLocalDpi xmlns:a14="http://schemas.microsoft.com/office/drawing/2010/main" val="0"/>
              </a:ext>
            </a:extLst>
          </a:blip>
          <a:srcRect l="7258" t="459" r="874" b="-121"/>
          <a:stretch/>
        </p:blipFill>
        <p:spPr>
          <a:xfrm>
            <a:off x="359454" y="1427778"/>
            <a:ext cx="6402552" cy="3646319"/>
          </a:xfrm>
          <a:prstGeom prst="rect">
            <a:avLst/>
          </a:prstGeom>
        </p:spPr>
      </p:pic>
      <p:pic>
        <p:nvPicPr>
          <p:cNvPr id="19" name="Picture 18">
            <a:extLst>
              <a:ext uri="{FF2B5EF4-FFF2-40B4-BE49-F238E27FC236}">
                <a16:creationId xmlns:a16="http://schemas.microsoft.com/office/drawing/2014/main" id="{347A079E-7A79-6CF3-494C-56B72A76D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7763" y="1347814"/>
            <a:ext cx="2786114" cy="4247125"/>
          </a:xfrm>
          <a:prstGeom prst="rect">
            <a:avLst/>
          </a:prstGeom>
        </p:spPr>
      </p:pic>
      <p:sp>
        <p:nvSpPr>
          <p:cNvPr id="20" name="Rectangle 19">
            <a:extLst>
              <a:ext uri="{FF2B5EF4-FFF2-40B4-BE49-F238E27FC236}">
                <a16:creationId xmlns:a16="http://schemas.microsoft.com/office/drawing/2014/main" id="{421C7F5F-E144-F6C9-75AB-EF469BF9E776}"/>
              </a:ext>
            </a:extLst>
          </p:cNvPr>
          <p:cNvSpPr/>
          <p:nvPr/>
        </p:nvSpPr>
        <p:spPr>
          <a:xfrm>
            <a:off x="345354" y="1376842"/>
            <a:ext cx="6402552" cy="50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aseline="-25000" dirty="0"/>
          </a:p>
        </p:txBody>
      </p:sp>
      <p:sp>
        <p:nvSpPr>
          <p:cNvPr id="21" name="Rectangle 20">
            <a:extLst>
              <a:ext uri="{FF2B5EF4-FFF2-40B4-BE49-F238E27FC236}">
                <a16:creationId xmlns:a16="http://schemas.microsoft.com/office/drawing/2014/main" id="{D57FF7BF-FEE6-3FCE-E2B8-62B18B101211}"/>
              </a:ext>
            </a:extLst>
          </p:cNvPr>
          <p:cNvSpPr/>
          <p:nvPr/>
        </p:nvSpPr>
        <p:spPr>
          <a:xfrm>
            <a:off x="359454" y="5065368"/>
            <a:ext cx="6394853"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3918C1D7-D42F-BC1F-5930-95CF2E80D9DC}"/>
              </a:ext>
            </a:extLst>
          </p:cNvPr>
          <p:cNvSpPr/>
          <p:nvPr/>
        </p:nvSpPr>
        <p:spPr>
          <a:xfrm rot="5400000" flipV="1">
            <a:off x="-1475652" y="3202610"/>
            <a:ext cx="3697253"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6A087C1A-D953-BF59-8DE6-62C67E6DDAE2}"/>
              </a:ext>
            </a:extLst>
          </p:cNvPr>
          <p:cNvSpPr/>
          <p:nvPr/>
        </p:nvSpPr>
        <p:spPr>
          <a:xfrm rot="5400000" flipV="1">
            <a:off x="4887614" y="3246574"/>
            <a:ext cx="3683311"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3FE531B3-E420-5B54-2007-22FFA325F24C}"/>
              </a:ext>
            </a:extLst>
          </p:cNvPr>
          <p:cNvSpPr/>
          <p:nvPr/>
        </p:nvSpPr>
        <p:spPr>
          <a:xfrm>
            <a:off x="6096000" y="-95086"/>
            <a:ext cx="6664068" cy="7228009"/>
          </a:xfrm>
          <a:prstGeom prst="rect">
            <a:avLst/>
          </a:prstGeom>
          <a:solidFill>
            <a:srgbClr val="000000">
              <a:alpha val="40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BDB6E3E-4356-5E4C-10AF-7FF5B0229316}"/>
              </a:ext>
            </a:extLst>
          </p:cNvPr>
          <p:cNvSpPr txBox="1"/>
          <p:nvPr/>
        </p:nvSpPr>
        <p:spPr>
          <a:xfrm>
            <a:off x="6936320" y="2787430"/>
            <a:ext cx="4931561" cy="2062103"/>
          </a:xfrm>
          <a:prstGeom prst="rect">
            <a:avLst/>
          </a:prstGeom>
          <a:noFill/>
        </p:spPr>
        <p:txBody>
          <a:bodyPr wrap="square">
            <a:spAutoFit/>
          </a:bodyPr>
          <a:lstStyle/>
          <a:p>
            <a:pPr marL="285750" indent="-285750" algn="ctr">
              <a:buFont typeface="Arial" panose="020B0604020202020204" pitchFamily="34" charset="0"/>
              <a:buChar char="•"/>
            </a:pPr>
            <a:r>
              <a:rPr lang="en-US" sz="1600" dirty="0" err="1">
                <a:solidFill>
                  <a:schemeClr val="bg1"/>
                </a:solidFill>
              </a:rPr>
              <a:t>Sandeepa</a:t>
            </a:r>
            <a:r>
              <a:rPr lang="en-US" sz="1600" dirty="0">
                <a:solidFill>
                  <a:schemeClr val="bg1"/>
                </a:solidFill>
              </a:rPr>
              <a:t> Mukherjee Datta is Bong Mom. the nom de plume behind the very popular blog 'Bong Mom's Cookbook’.</a:t>
            </a:r>
          </a:p>
          <a:p>
            <a:pPr marL="285750" indent="-285750" algn="ctr">
              <a:buFont typeface="Arial" panose="020B0604020202020204" pitchFamily="34" charset="0"/>
              <a:buChar char="•"/>
            </a:pPr>
            <a:r>
              <a:rPr lang="en-US" sz="1600" dirty="0">
                <a:solidFill>
                  <a:schemeClr val="bg1"/>
                </a:solidFill>
              </a:rPr>
              <a:t> She has been entertaining her readers with food and stories for over ten years and is the go-to source for Bengali cooking on the web.</a:t>
            </a:r>
          </a:p>
          <a:p>
            <a:pPr marL="285750" indent="-285750" algn="ctr">
              <a:buFont typeface="Arial" panose="020B0604020202020204" pitchFamily="34" charset="0"/>
              <a:buChar char="•"/>
            </a:pPr>
            <a:r>
              <a:rPr lang="en-US" sz="1600" dirty="0">
                <a:solidFill>
                  <a:schemeClr val="bg1"/>
                </a:solidFill>
              </a:rPr>
              <a:t> An engineer by profession, she lives with her family in New Jersey, USA.</a:t>
            </a:r>
            <a:endParaRPr lang="en-IN" sz="1600" dirty="0">
              <a:solidFill>
                <a:schemeClr val="bg1"/>
              </a:solidFill>
            </a:endParaRPr>
          </a:p>
        </p:txBody>
      </p:sp>
      <p:sp>
        <p:nvSpPr>
          <p:cNvPr id="26" name="TextBox 25">
            <a:extLst>
              <a:ext uri="{FF2B5EF4-FFF2-40B4-BE49-F238E27FC236}">
                <a16:creationId xmlns:a16="http://schemas.microsoft.com/office/drawing/2014/main" id="{2E0EC8FB-88FD-9A67-0E2B-9ED14EF4788D}"/>
              </a:ext>
            </a:extLst>
          </p:cNvPr>
          <p:cNvSpPr txBox="1"/>
          <p:nvPr/>
        </p:nvSpPr>
        <p:spPr>
          <a:xfrm>
            <a:off x="7580035" y="2052488"/>
            <a:ext cx="3683045" cy="461665"/>
          </a:xfrm>
          <a:prstGeom prst="rect">
            <a:avLst/>
          </a:prstGeom>
          <a:noFill/>
        </p:spPr>
        <p:txBody>
          <a:bodyPr wrap="square">
            <a:spAutoFit/>
          </a:bodyPr>
          <a:lstStyle/>
          <a:p>
            <a:r>
              <a:rPr lang="en-US" sz="2400" b="1" dirty="0" err="1">
                <a:solidFill>
                  <a:schemeClr val="bg1"/>
                </a:solidFill>
              </a:rPr>
              <a:t>Sandeepa</a:t>
            </a:r>
            <a:r>
              <a:rPr lang="en-US" sz="2400" b="1" dirty="0">
                <a:solidFill>
                  <a:schemeClr val="bg1"/>
                </a:solidFill>
              </a:rPr>
              <a:t> Mukherjee Datta </a:t>
            </a:r>
            <a:endParaRPr lang="en-IN" sz="2400" b="1" dirty="0"/>
          </a:p>
        </p:txBody>
      </p:sp>
      <p:sp>
        <p:nvSpPr>
          <p:cNvPr id="3" name="TextBox 2">
            <a:extLst>
              <a:ext uri="{FF2B5EF4-FFF2-40B4-BE49-F238E27FC236}">
                <a16:creationId xmlns:a16="http://schemas.microsoft.com/office/drawing/2014/main" id="{2FCDBDA4-6024-AA47-52B0-D0BFEA307057}"/>
              </a:ext>
            </a:extLst>
          </p:cNvPr>
          <p:cNvSpPr txBox="1"/>
          <p:nvPr/>
        </p:nvSpPr>
        <p:spPr>
          <a:xfrm>
            <a:off x="612841" y="8711687"/>
            <a:ext cx="5056178" cy="1815882"/>
          </a:xfrm>
          <a:prstGeom prst="rect">
            <a:avLst/>
          </a:prstGeom>
          <a:noFill/>
        </p:spPr>
        <p:txBody>
          <a:bodyPr wrap="square">
            <a:spAutoFit/>
          </a:bodyPr>
          <a:lstStyle/>
          <a:p>
            <a:pPr algn="ctr"/>
            <a:r>
              <a:rPr lang="en-US" sz="1400" i="1" dirty="0">
                <a:solidFill>
                  <a:schemeClr val="bg1"/>
                </a:solidFill>
              </a:rPr>
              <a:t>Those Delicious Letters</a:t>
            </a:r>
            <a:r>
              <a:rPr lang="en-US" sz="1400" dirty="0">
                <a:solidFill>
                  <a:schemeClr val="bg1"/>
                </a:solidFill>
              </a:rPr>
              <a:t> is a captivating novel that blends the warmth of family ties with the nostalgic flavors of traditional Bengali cuisine. The story follows Shubha Sengupta, a 40-year-old woman living in the United States, whose life takes an unexpected turn when she begins receiving letters from an unknown woman in Kolkata, claiming to be her grandmother. These letters contain not only cherished recipes but also tales from the past that gradually draw Shubha back to her roots.</a:t>
            </a:r>
            <a:endParaRPr lang="en-IN" sz="1400" dirty="0">
              <a:solidFill>
                <a:schemeClr val="bg1"/>
              </a:solidFill>
            </a:endParaRPr>
          </a:p>
        </p:txBody>
      </p:sp>
      <p:cxnSp>
        <p:nvCxnSpPr>
          <p:cNvPr id="5" name="Straight Connector 4">
            <a:extLst>
              <a:ext uri="{FF2B5EF4-FFF2-40B4-BE49-F238E27FC236}">
                <a16:creationId xmlns:a16="http://schemas.microsoft.com/office/drawing/2014/main" id="{94C4A6D3-EC66-1B68-F751-90A580B9FE12}"/>
              </a:ext>
            </a:extLst>
          </p:cNvPr>
          <p:cNvCxnSpPr/>
          <p:nvPr/>
        </p:nvCxnSpPr>
        <p:spPr>
          <a:xfrm>
            <a:off x="6152240" y="7492359"/>
            <a:ext cx="0" cy="5252259"/>
          </a:xfrm>
          <a:prstGeom prst="line">
            <a:avLst/>
          </a:prstGeom>
          <a:ln w="9525" cap="flat" cmpd="sng" algn="ctr">
            <a:solidFill>
              <a:schemeClr val="bg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9D28E93D-964B-413E-7E6A-E5341F0278CA}"/>
              </a:ext>
            </a:extLst>
          </p:cNvPr>
          <p:cNvSpPr txBox="1"/>
          <p:nvPr/>
        </p:nvSpPr>
        <p:spPr>
          <a:xfrm>
            <a:off x="5596585" y="8643498"/>
            <a:ext cx="6664062" cy="1815882"/>
          </a:xfrm>
          <a:prstGeom prst="rect">
            <a:avLst/>
          </a:prstGeom>
          <a:noFill/>
        </p:spPr>
        <p:txBody>
          <a:bodyPr wrap="square">
            <a:spAutoFit/>
          </a:bodyPr>
          <a:lstStyle/>
          <a:p>
            <a:pPr algn="ctr"/>
            <a:r>
              <a:rPr lang="en-IN" sz="1400" dirty="0">
                <a:solidFill>
                  <a:schemeClr val="bg1"/>
                </a:solidFill>
              </a:rPr>
              <a:t>Author(s): </a:t>
            </a:r>
            <a:r>
              <a:rPr lang="en-IN" sz="1400" dirty="0" err="1">
                <a:solidFill>
                  <a:schemeClr val="bg1"/>
                </a:solidFill>
              </a:rPr>
              <a:t>Sandeepa</a:t>
            </a:r>
            <a:r>
              <a:rPr lang="en-IN" sz="1400" dirty="0">
                <a:solidFill>
                  <a:schemeClr val="bg1"/>
                </a:solidFill>
              </a:rPr>
              <a:t> Datta Mukherjee</a:t>
            </a:r>
          </a:p>
          <a:p>
            <a:pPr algn="ctr"/>
            <a:r>
              <a:rPr lang="en-IN" sz="1400" dirty="0">
                <a:solidFill>
                  <a:schemeClr val="bg1"/>
                </a:solidFill>
              </a:rPr>
              <a:t>Publication date: 2020-12-15</a:t>
            </a:r>
          </a:p>
          <a:p>
            <a:pPr algn="ctr"/>
            <a:r>
              <a:rPr lang="en-IN" sz="1400" dirty="0">
                <a:solidFill>
                  <a:schemeClr val="bg1"/>
                </a:solidFill>
              </a:rPr>
              <a:t>Language: English</a:t>
            </a:r>
          </a:p>
          <a:p>
            <a:pPr algn="ctr"/>
            <a:r>
              <a:rPr lang="en-IN" sz="1400" dirty="0">
                <a:solidFill>
                  <a:schemeClr val="bg1"/>
                </a:solidFill>
              </a:rPr>
              <a:t>Publisher: HarperCollins India</a:t>
            </a:r>
          </a:p>
          <a:p>
            <a:pPr algn="ctr"/>
            <a:r>
              <a:rPr lang="en-IN" sz="1400" dirty="0">
                <a:solidFill>
                  <a:schemeClr val="bg1"/>
                </a:solidFill>
              </a:rPr>
              <a:t>Age Rating: 10+</a:t>
            </a:r>
          </a:p>
          <a:p>
            <a:pPr algn="ctr"/>
            <a:r>
              <a:rPr lang="en-IN" sz="1400" dirty="0">
                <a:solidFill>
                  <a:schemeClr val="bg1"/>
                </a:solidFill>
              </a:rPr>
              <a:t>Publication year: 2020</a:t>
            </a:r>
          </a:p>
          <a:p>
            <a:pPr algn="ctr"/>
            <a:r>
              <a:rPr lang="en-IN" sz="1400" dirty="0">
                <a:solidFill>
                  <a:schemeClr val="bg1"/>
                </a:solidFill>
              </a:rPr>
              <a:t>Pages: 264</a:t>
            </a:r>
          </a:p>
          <a:p>
            <a:endParaRPr lang="en-IN" sz="1400" dirty="0">
              <a:solidFill>
                <a:schemeClr val="bg1"/>
              </a:solidFill>
            </a:endParaRPr>
          </a:p>
        </p:txBody>
      </p:sp>
      <p:sp>
        <p:nvSpPr>
          <p:cNvPr id="8" name="TextBox 7">
            <a:extLst>
              <a:ext uri="{FF2B5EF4-FFF2-40B4-BE49-F238E27FC236}">
                <a16:creationId xmlns:a16="http://schemas.microsoft.com/office/drawing/2014/main" id="{41799F08-A9A3-CC58-5D8A-FB3AE0F053CE}"/>
              </a:ext>
            </a:extLst>
          </p:cNvPr>
          <p:cNvSpPr txBox="1"/>
          <p:nvPr/>
        </p:nvSpPr>
        <p:spPr>
          <a:xfrm>
            <a:off x="2107467" y="7986545"/>
            <a:ext cx="2066925" cy="523220"/>
          </a:xfrm>
          <a:prstGeom prst="rect">
            <a:avLst/>
          </a:prstGeom>
          <a:noFill/>
        </p:spPr>
        <p:txBody>
          <a:bodyPr wrap="square" rtlCol="0">
            <a:spAutoFit/>
          </a:bodyPr>
          <a:lstStyle/>
          <a:p>
            <a:r>
              <a:rPr lang="en-IN" sz="2800" dirty="0">
                <a:solidFill>
                  <a:schemeClr val="bg1"/>
                </a:solidFill>
              </a:rPr>
              <a:t>Over View</a:t>
            </a:r>
          </a:p>
        </p:txBody>
      </p:sp>
      <p:sp>
        <p:nvSpPr>
          <p:cNvPr id="9" name="TextBox 8">
            <a:extLst>
              <a:ext uri="{FF2B5EF4-FFF2-40B4-BE49-F238E27FC236}">
                <a16:creationId xmlns:a16="http://schemas.microsoft.com/office/drawing/2014/main" id="{4471D5A1-7F81-B12A-52B8-0ECACAA0F111}"/>
              </a:ext>
            </a:extLst>
          </p:cNvPr>
          <p:cNvSpPr txBox="1"/>
          <p:nvPr/>
        </p:nvSpPr>
        <p:spPr>
          <a:xfrm>
            <a:off x="8616287" y="7828359"/>
            <a:ext cx="1571625" cy="461665"/>
          </a:xfrm>
          <a:prstGeom prst="rect">
            <a:avLst/>
          </a:prstGeom>
          <a:noFill/>
        </p:spPr>
        <p:txBody>
          <a:bodyPr wrap="square" rtlCol="0">
            <a:spAutoFit/>
          </a:bodyPr>
          <a:lstStyle/>
          <a:p>
            <a:r>
              <a:rPr lang="en-IN" sz="2400" dirty="0">
                <a:solidFill>
                  <a:schemeClr val="bg1"/>
                </a:solidFill>
              </a:rPr>
              <a:t>About</a:t>
            </a:r>
          </a:p>
        </p:txBody>
      </p:sp>
    </p:spTree>
    <p:extLst>
      <p:ext uri="{BB962C8B-B14F-4D97-AF65-F5344CB8AC3E}">
        <p14:creationId xmlns:p14="http://schemas.microsoft.com/office/powerpoint/2010/main" val="4209245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8E16B6F-5F45-B959-C153-9563D276E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4745" y="-7511765"/>
            <a:ext cx="23431500" cy="14644688"/>
          </a:xfrm>
          <a:prstGeom prst="rect">
            <a:avLst/>
          </a:prstGeom>
        </p:spPr>
      </p:pic>
      <p:sp>
        <p:nvSpPr>
          <p:cNvPr id="10" name="Rectangle 9">
            <a:extLst>
              <a:ext uri="{FF2B5EF4-FFF2-40B4-BE49-F238E27FC236}">
                <a16:creationId xmlns:a16="http://schemas.microsoft.com/office/drawing/2014/main" id="{1D7A2907-ED4D-D4E5-AEC5-AA390D21ED35}"/>
              </a:ext>
            </a:extLst>
          </p:cNvPr>
          <p:cNvSpPr/>
          <p:nvPr/>
        </p:nvSpPr>
        <p:spPr>
          <a:xfrm>
            <a:off x="-212274" y="-1089547"/>
            <a:ext cx="12729029" cy="8222470"/>
          </a:xfrm>
          <a:prstGeom prst="rect">
            <a:avLst/>
          </a:prstGeom>
          <a:solidFill>
            <a:srgbClr val="000000">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96A8716-5F81-F607-0F2C-D174F886E623}"/>
              </a:ext>
            </a:extLst>
          </p:cNvPr>
          <p:cNvSpPr txBox="1"/>
          <p:nvPr/>
        </p:nvSpPr>
        <p:spPr>
          <a:xfrm>
            <a:off x="-5123545" y="-2838150"/>
            <a:ext cx="4976865" cy="1077218"/>
          </a:xfrm>
          <a:prstGeom prst="rect">
            <a:avLst/>
          </a:prstGeom>
          <a:noFill/>
        </p:spPr>
        <p:txBody>
          <a:bodyPr wrap="square">
            <a:spAutoFit/>
          </a:bodyPr>
          <a:lstStyle/>
          <a:p>
            <a:pPr algn="ctr"/>
            <a:r>
              <a:rPr lang="en-IN" sz="3200" dirty="0">
                <a:solidFill>
                  <a:schemeClr val="bg1"/>
                </a:solidFill>
              </a:rPr>
              <a:t>By</a:t>
            </a:r>
            <a:endParaRPr lang="en-IN" sz="3200" b="1" dirty="0">
              <a:solidFill>
                <a:schemeClr val="bg1"/>
              </a:solidFill>
            </a:endParaRPr>
          </a:p>
          <a:p>
            <a:r>
              <a:rPr lang="en-IN" sz="3200" b="1" dirty="0">
                <a:solidFill>
                  <a:schemeClr val="bg1"/>
                </a:solidFill>
              </a:rPr>
              <a:t> </a:t>
            </a:r>
            <a:r>
              <a:rPr lang="en-IN" sz="3200" b="1" dirty="0" err="1">
                <a:solidFill>
                  <a:schemeClr val="bg1"/>
                </a:solidFill>
              </a:rPr>
              <a:t>Sandeepa</a:t>
            </a:r>
            <a:r>
              <a:rPr lang="en-IN" sz="3200" b="1" dirty="0">
                <a:solidFill>
                  <a:schemeClr val="bg1"/>
                </a:solidFill>
              </a:rPr>
              <a:t> Mukherjee Datta</a:t>
            </a:r>
          </a:p>
        </p:txBody>
      </p:sp>
      <p:pic>
        <p:nvPicPr>
          <p:cNvPr id="15" name="Picture 14">
            <a:extLst>
              <a:ext uri="{FF2B5EF4-FFF2-40B4-BE49-F238E27FC236}">
                <a16:creationId xmlns:a16="http://schemas.microsoft.com/office/drawing/2014/main" id="{F224657B-EEEE-571C-5764-9846B0AF4B48}"/>
              </a:ext>
            </a:extLst>
          </p:cNvPr>
          <p:cNvPicPr>
            <a:picLocks noChangeAspect="1"/>
          </p:cNvPicPr>
          <p:nvPr/>
        </p:nvPicPr>
        <p:blipFill>
          <a:blip r:embed="rId3">
            <a:extLst>
              <a:ext uri="{28A0092B-C50C-407E-A947-70E740481C1C}">
                <a14:useLocalDpi xmlns:a14="http://schemas.microsoft.com/office/drawing/2010/main" val="0"/>
              </a:ext>
            </a:extLst>
          </a:blip>
          <a:srcRect l="7258" t="459" r="874" b="-121"/>
          <a:stretch/>
        </p:blipFill>
        <p:spPr>
          <a:xfrm>
            <a:off x="599362" y="-6083987"/>
            <a:ext cx="6402552" cy="3646319"/>
          </a:xfrm>
          <a:prstGeom prst="rect">
            <a:avLst/>
          </a:prstGeom>
        </p:spPr>
      </p:pic>
      <p:pic>
        <p:nvPicPr>
          <p:cNvPr id="19" name="Picture 18">
            <a:extLst>
              <a:ext uri="{FF2B5EF4-FFF2-40B4-BE49-F238E27FC236}">
                <a16:creationId xmlns:a16="http://schemas.microsoft.com/office/drawing/2014/main" id="{347A079E-7A79-6CF3-494C-56B72A76D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7855" y="-6163951"/>
            <a:ext cx="2786114" cy="4247125"/>
          </a:xfrm>
          <a:prstGeom prst="rect">
            <a:avLst/>
          </a:prstGeom>
        </p:spPr>
      </p:pic>
      <p:sp>
        <p:nvSpPr>
          <p:cNvPr id="20" name="Rectangle 19">
            <a:extLst>
              <a:ext uri="{FF2B5EF4-FFF2-40B4-BE49-F238E27FC236}">
                <a16:creationId xmlns:a16="http://schemas.microsoft.com/office/drawing/2014/main" id="{421C7F5F-E144-F6C9-75AB-EF469BF9E776}"/>
              </a:ext>
            </a:extLst>
          </p:cNvPr>
          <p:cNvSpPr/>
          <p:nvPr/>
        </p:nvSpPr>
        <p:spPr>
          <a:xfrm>
            <a:off x="585262" y="-6134923"/>
            <a:ext cx="6402552" cy="50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aseline="-25000" dirty="0"/>
          </a:p>
        </p:txBody>
      </p:sp>
      <p:sp>
        <p:nvSpPr>
          <p:cNvPr id="21" name="Rectangle 20">
            <a:extLst>
              <a:ext uri="{FF2B5EF4-FFF2-40B4-BE49-F238E27FC236}">
                <a16:creationId xmlns:a16="http://schemas.microsoft.com/office/drawing/2014/main" id="{D57FF7BF-FEE6-3FCE-E2B8-62B18B101211}"/>
              </a:ext>
            </a:extLst>
          </p:cNvPr>
          <p:cNvSpPr/>
          <p:nvPr/>
        </p:nvSpPr>
        <p:spPr>
          <a:xfrm>
            <a:off x="599362" y="-2446397"/>
            <a:ext cx="6394853"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3918C1D7-D42F-BC1F-5930-95CF2E80D9DC}"/>
              </a:ext>
            </a:extLst>
          </p:cNvPr>
          <p:cNvSpPr/>
          <p:nvPr/>
        </p:nvSpPr>
        <p:spPr>
          <a:xfrm rot="5400000" flipV="1">
            <a:off x="-1235744" y="-4309155"/>
            <a:ext cx="3697253"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6A087C1A-D953-BF59-8DE6-62C67E6DDAE2}"/>
              </a:ext>
            </a:extLst>
          </p:cNvPr>
          <p:cNvSpPr/>
          <p:nvPr/>
        </p:nvSpPr>
        <p:spPr>
          <a:xfrm rot="5400000" flipV="1">
            <a:off x="5127522" y="-4265191"/>
            <a:ext cx="3683311"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3FE531B3-E420-5B54-2007-22FFA325F24C}"/>
              </a:ext>
            </a:extLst>
          </p:cNvPr>
          <p:cNvSpPr/>
          <p:nvPr/>
        </p:nvSpPr>
        <p:spPr>
          <a:xfrm>
            <a:off x="6335908" y="-7606851"/>
            <a:ext cx="6664068" cy="7228009"/>
          </a:xfrm>
          <a:prstGeom prst="rect">
            <a:avLst/>
          </a:prstGeom>
          <a:solidFill>
            <a:srgbClr val="000000">
              <a:alpha val="40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BDB6E3E-4356-5E4C-10AF-7FF5B0229316}"/>
              </a:ext>
            </a:extLst>
          </p:cNvPr>
          <p:cNvSpPr txBox="1"/>
          <p:nvPr/>
        </p:nvSpPr>
        <p:spPr>
          <a:xfrm>
            <a:off x="7176228" y="-4724335"/>
            <a:ext cx="4931561" cy="1569660"/>
          </a:xfrm>
          <a:prstGeom prst="rect">
            <a:avLst/>
          </a:prstGeom>
          <a:noFill/>
        </p:spPr>
        <p:txBody>
          <a:bodyPr wrap="square">
            <a:spAutoFit/>
          </a:bodyPr>
          <a:lstStyle/>
          <a:p>
            <a:pPr algn="ctr"/>
            <a:r>
              <a:rPr lang="en-US" sz="1600" dirty="0" err="1">
                <a:solidFill>
                  <a:schemeClr val="bg1"/>
                </a:solidFill>
              </a:rPr>
              <a:t>Sandeepa</a:t>
            </a:r>
            <a:r>
              <a:rPr lang="en-US" sz="1600" dirty="0">
                <a:solidFill>
                  <a:schemeClr val="bg1"/>
                </a:solidFill>
              </a:rPr>
              <a:t> Mukherjee Datta is Bong Mom, the nom de plume behind the very popular blog 'Bong Mom's Cookbook'. She has been entertaining her readers with food and stories for over ten years and is the go-to source for Bengali cooking on the web. An engineer by profession, she lives with her family in New Jersey, USA.</a:t>
            </a:r>
            <a:endParaRPr lang="en-IN" sz="1600" dirty="0">
              <a:solidFill>
                <a:schemeClr val="bg1"/>
              </a:solidFill>
            </a:endParaRPr>
          </a:p>
        </p:txBody>
      </p:sp>
      <p:sp>
        <p:nvSpPr>
          <p:cNvPr id="26" name="TextBox 25">
            <a:extLst>
              <a:ext uri="{FF2B5EF4-FFF2-40B4-BE49-F238E27FC236}">
                <a16:creationId xmlns:a16="http://schemas.microsoft.com/office/drawing/2014/main" id="{2E0EC8FB-88FD-9A67-0E2B-9ED14EF4788D}"/>
              </a:ext>
            </a:extLst>
          </p:cNvPr>
          <p:cNvSpPr txBox="1"/>
          <p:nvPr/>
        </p:nvSpPr>
        <p:spPr>
          <a:xfrm>
            <a:off x="7819943" y="-5459277"/>
            <a:ext cx="3683045" cy="461665"/>
          </a:xfrm>
          <a:prstGeom prst="rect">
            <a:avLst/>
          </a:prstGeom>
          <a:noFill/>
        </p:spPr>
        <p:txBody>
          <a:bodyPr wrap="square">
            <a:spAutoFit/>
          </a:bodyPr>
          <a:lstStyle/>
          <a:p>
            <a:r>
              <a:rPr lang="en-US" sz="2400" b="1" dirty="0" err="1">
                <a:solidFill>
                  <a:schemeClr val="bg1"/>
                </a:solidFill>
              </a:rPr>
              <a:t>Sandeepa</a:t>
            </a:r>
            <a:r>
              <a:rPr lang="en-US" sz="2400" b="1" dirty="0">
                <a:solidFill>
                  <a:schemeClr val="bg1"/>
                </a:solidFill>
              </a:rPr>
              <a:t> Mukherjee Datta </a:t>
            </a:r>
            <a:endParaRPr lang="en-IN" sz="2400" b="1" dirty="0"/>
          </a:p>
        </p:txBody>
      </p:sp>
      <p:sp>
        <p:nvSpPr>
          <p:cNvPr id="3" name="TextBox 2">
            <a:extLst>
              <a:ext uri="{FF2B5EF4-FFF2-40B4-BE49-F238E27FC236}">
                <a16:creationId xmlns:a16="http://schemas.microsoft.com/office/drawing/2014/main" id="{2FCDBDA4-6024-AA47-52B0-D0BFEA307057}"/>
              </a:ext>
            </a:extLst>
          </p:cNvPr>
          <p:cNvSpPr txBox="1"/>
          <p:nvPr/>
        </p:nvSpPr>
        <p:spPr>
          <a:xfrm>
            <a:off x="907432" y="2839441"/>
            <a:ext cx="5056178" cy="3139321"/>
          </a:xfrm>
          <a:prstGeom prst="rect">
            <a:avLst/>
          </a:prstGeom>
          <a:noFill/>
        </p:spPr>
        <p:txBody>
          <a:bodyPr wrap="square">
            <a:spAutoFit/>
          </a:bodyPr>
          <a:lstStyle/>
          <a:p>
            <a:pPr marL="285750" indent="-285750" algn="ctr">
              <a:buFont typeface="Arial" panose="020B0604020202020204" pitchFamily="34" charset="0"/>
              <a:buChar char="•"/>
            </a:pPr>
            <a:r>
              <a:rPr lang="en-US" i="1" dirty="0">
                <a:solidFill>
                  <a:schemeClr val="bg1"/>
                </a:solidFill>
              </a:rPr>
              <a:t>Those Delicious Letters</a:t>
            </a:r>
            <a:r>
              <a:rPr lang="en-US" dirty="0">
                <a:solidFill>
                  <a:schemeClr val="bg1"/>
                </a:solidFill>
              </a:rPr>
              <a:t> is a captivating novel that blends the warmth of family ties with the nostalgic flavors of traditional Bengali cuisine.</a:t>
            </a:r>
          </a:p>
          <a:p>
            <a:pPr marL="285750" indent="-285750" algn="ctr">
              <a:buFont typeface="Arial" panose="020B0604020202020204" pitchFamily="34" charset="0"/>
              <a:buChar char="•"/>
            </a:pPr>
            <a:r>
              <a:rPr lang="en-US" dirty="0">
                <a:solidFill>
                  <a:schemeClr val="bg1"/>
                </a:solidFill>
              </a:rPr>
              <a:t> The story follows Shubha Sengupta, a 40-year-old woman living in the United States, whose life takes an unexpected turn when she begins receiving letters from an unknown woman in Kolkata, claiming to be her grandmother. </a:t>
            </a:r>
          </a:p>
          <a:p>
            <a:pPr marL="285750" indent="-285750" algn="ctr">
              <a:buFont typeface="Arial" panose="020B0604020202020204" pitchFamily="34" charset="0"/>
              <a:buChar char="•"/>
            </a:pPr>
            <a:r>
              <a:rPr lang="en-US" dirty="0">
                <a:solidFill>
                  <a:schemeClr val="bg1"/>
                </a:solidFill>
              </a:rPr>
              <a:t>These letters contain not only cherished recipes but also tales from the past that gradually draw Shubha back to her roots.</a:t>
            </a:r>
            <a:endParaRPr lang="en-IN" dirty="0">
              <a:solidFill>
                <a:schemeClr val="bg1"/>
              </a:solidFill>
            </a:endParaRPr>
          </a:p>
        </p:txBody>
      </p:sp>
      <p:cxnSp>
        <p:nvCxnSpPr>
          <p:cNvPr id="5" name="Straight Connector 4">
            <a:extLst>
              <a:ext uri="{FF2B5EF4-FFF2-40B4-BE49-F238E27FC236}">
                <a16:creationId xmlns:a16="http://schemas.microsoft.com/office/drawing/2014/main" id="{94C4A6D3-EC66-1B68-F751-90A580B9FE12}"/>
              </a:ext>
            </a:extLst>
          </p:cNvPr>
          <p:cNvCxnSpPr/>
          <p:nvPr/>
        </p:nvCxnSpPr>
        <p:spPr>
          <a:xfrm>
            <a:off x="6335908" y="1227987"/>
            <a:ext cx="0" cy="5252259"/>
          </a:xfrm>
          <a:prstGeom prst="line">
            <a:avLst/>
          </a:prstGeom>
          <a:ln w="9525" cap="flat" cmpd="sng" algn="ctr">
            <a:solidFill>
              <a:schemeClr val="bg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9D28E93D-964B-413E-7E6A-E5341F0278CA}"/>
              </a:ext>
            </a:extLst>
          </p:cNvPr>
          <p:cNvSpPr txBox="1"/>
          <p:nvPr/>
        </p:nvSpPr>
        <p:spPr>
          <a:xfrm>
            <a:off x="7001914" y="2877541"/>
            <a:ext cx="5145632" cy="2062103"/>
          </a:xfrm>
          <a:prstGeom prst="rect">
            <a:avLst/>
          </a:prstGeom>
          <a:noFill/>
        </p:spPr>
        <p:txBody>
          <a:bodyPr wrap="square">
            <a:spAutoFit/>
          </a:bodyPr>
          <a:lstStyle/>
          <a:p>
            <a:pPr algn="ctr"/>
            <a:r>
              <a:rPr lang="en-IN" dirty="0">
                <a:solidFill>
                  <a:schemeClr val="bg1"/>
                </a:solidFill>
              </a:rPr>
              <a:t>Author(s): </a:t>
            </a:r>
            <a:r>
              <a:rPr lang="en-IN" dirty="0" err="1">
                <a:solidFill>
                  <a:schemeClr val="bg1"/>
                </a:solidFill>
              </a:rPr>
              <a:t>Sandeepa</a:t>
            </a:r>
            <a:r>
              <a:rPr lang="en-IN" dirty="0">
                <a:solidFill>
                  <a:schemeClr val="bg1"/>
                </a:solidFill>
              </a:rPr>
              <a:t> Datta Mukherjee</a:t>
            </a:r>
          </a:p>
          <a:p>
            <a:pPr algn="ctr"/>
            <a:r>
              <a:rPr lang="en-IN" dirty="0">
                <a:solidFill>
                  <a:schemeClr val="bg1"/>
                </a:solidFill>
              </a:rPr>
              <a:t>Publication date: 2020-12-15</a:t>
            </a:r>
          </a:p>
          <a:p>
            <a:pPr algn="ctr"/>
            <a:r>
              <a:rPr lang="en-IN" dirty="0">
                <a:solidFill>
                  <a:schemeClr val="bg1"/>
                </a:solidFill>
              </a:rPr>
              <a:t>Language: English</a:t>
            </a:r>
          </a:p>
          <a:p>
            <a:pPr algn="ctr"/>
            <a:r>
              <a:rPr lang="en-IN" dirty="0">
                <a:solidFill>
                  <a:schemeClr val="bg1"/>
                </a:solidFill>
              </a:rPr>
              <a:t>Publisher: HarperCollins India</a:t>
            </a:r>
          </a:p>
          <a:p>
            <a:pPr algn="ctr"/>
            <a:r>
              <a:rPr lang="en-IN" dirty="0">
                <a:solidFill>
                  <a:schemeClr val="bg1"/>
                </a:solidFill>
              </a:rPr>
              <a:t>Age Rating: 10+</a:t>
            </a:r>
          </a:p>
          <a:p>
            <a:pPr algn="ctr"/>
            <a:r>
              <a:rPr lang="en-IN" sz="2000" b="1" dirty="0">
                <a:solidFill>
                  <a:schemeClr val="bg1"/>
                </a:solidFill>
              </a:rPr>
              <a:t>Publication year: 2020</a:t>
            </a:r>
          </a:p>
          <a:p>
            <a:pPr algn="ctr"/>
            <a:r>
              <a:rPr lang="en-IN" dirty="0">
                <a:solidFill>
                  <a:schemeClr val="bg1"/>
                </a:solidFill>
              </a:rPr>
              <a:t>Pages: 264</a:t>
            </a:r>
          </a:p>
        </p:txBody>
      </p:sp>
      <p:sp>
        <p:nvSpPr>
          <p:cNvPr id="2" name="TextBox 1">
            <a:extLst>
              <a:ext uri="{FF2B5EF4-FFF2-40B4-BE49-F238E27FC236}">
                <a16:creationId xmlns:a16="http://schemas.microsoft.com/office/drawing/2014/main" id="{5AC3F041-BD97-5841-1A16-F80D6E31FEB7}"/>
              </a:ext>
            </a:extLst>
          </p:cNvPr>
          <p:cNvSpPr txBox="1"/>
          <p:nvPr/>
        </p:nvSpPr>
        <p:spPr>
          <a:xfrm>
            <a:off x="2469417" y="1754783"/>
            <a:ext cx="2066925" cy="523220"/>
          </a:xfrm>
          <a:prstGeom prst="rect">
            <a:avLst/>
          </a:prstGeom>
          <a:noFill/>
        </p:spPr>
        <p:txBody>
          <a:bodyPr wrap="square" rtlCol="0">
            <a:spAutoFit/>
          </a:bodyPr>
          <a:lstStyle/>
          <a:p>
            <a:r>
              <a:rPr lang="en-IN" sz="2800" dirty="0">
                <a:solidFill>
                  <a:schemeClr val="bg1"/>
                </a:solidFill>
              </a:rPr>
              <a:t>Over View</a:t>
            </a:r>
          </a:p>
        </p:txBody>
      </p:sp>
      <p:sp>
        <p:nvSpPr>
          <p:cNvPr id="4" name="TextBox 3">
            <a:extLst>
              <a:ext uri="{FF2B5EF4-FFF2-40B4-BE49-F238E27FC236}">
                <a16:creationId xmlns:a16="http://schemas.microsoft.com/office/drawing/2014/main" id="{A24A3623-F1EE-C580-E327-0850851412F6}"/>
              </a:ext>
            </a:extLst>
          </p:cNvPr>
          <p:cNvSpPr txBox="1"/>
          <p:nvPr/>
        </p:nvSpPr>
        <p:spPr>
          <a:xfrm>
            <a:off x="8936770" y="1830983"/>
            <a:ext cx="1571625" cy="523220"/>
          </a:xfrm>
          <a:prstGeom prst="rect">
            <a:avLst/>
          </a:prstGeom>
          <a:noFill/>
        </p:spPr>
        <p:txBody>
          <a:bodyPr wrap="square" rtlCol="0">
            <a:spAutoFit/>
          </a:bodyPr>
          <a:lstStyle/>
          <a:p>
            <a:r>
              <a:rPr lang="en-IN" sz="2800" dirty="0">
                <a:solidFill>
                  <a:schemeClr val="bg1"/>
                </a:solidFill>
              </a:rPr>
              <a:t>About</a:t>
            </a:r>
          </a:p>
        </p:txBody>
      </p:sp>
    </p:spTree>
    <p:extLst>
      <p:ext uri="{BB962C8B-B14F-4D97-AF65-F5344CB8AC3E}">
        <p14:creationId xmlns:p14="http://schemas.microsoft.com/office/powerpoint/2010/main" val="91431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447</Words>
  <Application>Microsoft Office PowerPoint</Application>
  <PresentationFormat>Widescreen</PresentationFormat>
  <Paragraphs>36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27</cp:revision>
  <dcterms:created xsi:type="dcterms:W3CDTF">2024-09-02T15:54:50Z</dcterms:created>
  <dcterms:modified xsi:type="dcterms:W3CDTF">2024-09-03T15:27:37Z</dcterms:modified>
</cp:coreProperties>
</file>