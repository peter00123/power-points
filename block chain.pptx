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92" autoAdjust="0"/>
    <p:restoredTop sz="94660"/>
  </p:normalViewPr>
  <p:slideViewPr>
    <p:cSldViewPr snapToGrid="0">
      <p:cViewPr>
        <p:scale>
          <a:sx n="66" d="100"/>
          <a:sy n="66" d="100"/>
        </p:scale>
        <p:origin x="1860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E0560-B9E7-4CD0-887C-F23ED9E06666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C4E15-528E-4DAE-82C4-6B99B3741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D57D-0470-A15B-C58E-5E5BC4BA9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C6A6B-E190-8DCE-9C76-C4E073431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0A98A-D999-4585-3C88-1352F2F0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5BB06-1A58-4AE9-E18E-E20A142A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48BD3-C652-9516-3B43-880ECE67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1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40B-6B8F-E94E-AC71-31A062C4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5D852-442D-EDFD-7955-1A7D163D9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442E2-2E59-7517-A28F-2B1378CD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338DA-C64E-820E-3FC2-7DD0B955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654DF-0299-B179-52F2-E0106AE3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46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D88C-B6D2-58F4-61E0-3DB9488C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A6AC4-35CF-5146-6254-BB3C7CB2A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3328-125C-B2ED-9323-42195139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3B254-0BE4-19EC-4818-5D694814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6EF40-C1D9-8A79-D701-0A52DC01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14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5F05-017B-112E-370D-306E9C24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C61D-C34B-9D66-0030-A9E3C4A8A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36B0C-ACDD-F25F-9145-48F5FB659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F1838-6942-5FF5-7CDF-B7D3CABF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FBDC8-70B8-EE4B-6E19-AB9BDADB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62C7-8883-DA88-5B0B-61E5F8FE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52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83B9-2824-51EB-EF6F-935BC41B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D41F8-77D6-DCD2-3AFE-AAD868C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96234-62F8-9368-DE85-24E80E7A4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94A6E-7411-6D1A-4A3E-736EF04C1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55D9F-E2F4-19D9-8CF3-2350C54B5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0170C-640E-9338-EFD5-D8799F76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28BE1-4611-87C9-3670-972065F5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72FAD-43B6-6C8C-DD24-E323BDB9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084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DA2F-06A8-A24E-F8F1-93753609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A22FF-9CAC-7DC8-59B8-0348742B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B2843-2D1C-9252-1F94-52E0FF4E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8D5E2-4F9C-73AF-9215-E8D5D2C6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34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E63B1-9566-6AB7-766D-AE462A5D2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3A523-1ACD-C9B2-CF23-EB352D64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C11F4-AC1D-8A4B-C913-A0C23691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02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02BB-3FF1-FF6D-316D-B1D4C039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5F71B-3990-0BC6-9C41-7799322B8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576C2-F427-16D3-CA2C-BDAD348AC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446F5-99EC-90A3-B142-C06871CF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B6D96-A4F6-6383-DD78-F0A1D540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6E664-74E4-2703-3030-3A2912FE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2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9818F-6395-BC59-C134-88463190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A93EF-46BB-D2CF-C6CF-62C8AD744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FD257-427C-E9B5-2D1F-B9E8EFF97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0677A-1686-B47A-E081-16D3CA3E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10D41-56A4-D233-87A8-FC7A25699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49E59-E944-BA8D-E944-398C85DE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06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D239-8EE1-A69A-396F-244C6CB5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3DBB-3FD9-615B-A37D-50AEA2A1B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77E71-332B-B86B-E922-DF657C53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80736-9B46-8A8A-C0A8-8F42C2D80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38CB5-52A4-1BD4-B46B-D0880387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64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9CB86-53E4-2DF0-3776-AA8C7A7BE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BC89C-2111-6626-D7C2-69D9D3DF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8A2BF-6E66-ABF0-8C4B-C6CC4F60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0EFB-8DF3-40AD-3385-620679D7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198AB-98A2-6BCA-C364-EAFD07DB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5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62CAD3-F223-4F90-F289-3A6328E2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07E04-1806-926E-8689-6CB142F2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4B550-20A9-C4EF-340C-BABCC2164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EC992-6D9B-47AF-8E7C-3C281D72544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C2E21-2CF4-31F6-B005-4E05F422F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C5EE-F996-780C-C09B-171E72FED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B1E4E-BEF1-49FE-8333-87F7EE0F05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8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C3A9A9-C86D-13B0-5A79-AB696E831F31}"/>
              </a:ext>
            </a:extLst>
          </p:cNvPr>
          <p:cNvSpPr txBox="1"/>
          <p:nvPr/>
        </p:nvSpPr>
        <p:spPr>
          <a:xfrm>
            <a:off x="620961" y="1031305"/>
            <a:ext cx="1068933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0" b="1" dirty="0">
                <a:ln>
                  <a:solidFill>
                    <a:schemeClr val="bg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Algerian" panose="04020705040A02060702" pitchFamily="82" charset="0"/>
              </a:rPr>
              <a:t>BLOCK CHAIN </a:t>
            </a:r>
          </a:p>
          <a:p>
            <a:r>
              <a:rPr lang="en-US" sz="13000" b="1" dirty="0">
                <a:ln>
                  <a:solidFill>
                    <a:schemeClr val="bg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Algerian" panose="04020705040A02060702" pitchFamily="82" charset="0"/>
              </a:rPr>
              <a:t>TECHNOLOGY</a:t>
            </a:r>
            <a:endParaRPr lang="en-IN" sz="13000" b="1" dirty="0">
              <a:ln>
                <a:solidFill>
                  <a:schemeClr val="bg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43C11-EBC0-6922-2CED-94F68DA55ABB}"/>
              </a:ext>
            </a:extLst>
          </p:cNvPr>
          <p:cNvSpPr txBox="1"/>
          <p:nvPr/>
        </p:nvSpPr>
        <p:spPr>
          <a:xfrm>
            <a:off x="620961" y="5458690"/>
            <a:ext cx="1577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n>
                  <a:solidFill>
                    <a:schemeClr val="bg1"/>
                  </a:solidFill>
                </a:ln>
                <a:blipFill>
                  <a:blip r:embed="rId2"/>
                  <a:stretch>
                    <a:fillRect/>
                  </a:stretch>
                </a:blipFill>
              </a:rPr>
              <a:t>Basil v</a:t>
            </a:r>
          </a:p>
          <a:p>
            <a:r>
              <a:rPr lang="en-US" sz="2400" dirty="0">
                <a:ln>
                  <a:solidFill>
                    <a:schemeClr val="bg1"/>
                  </a:solidFill>
                </a:ln>
                <a:blipFill>
                  <a:blip r:embed="rId2"/>
                  <a:stretch>
                    <a:fillRect/>
                  </a:stretch>
                </a:blipFill>
              </a:rPr>
              <a:t>Vishnu k</a:t>
            </a:r>
            <a:endParaRPr lang="en-IN" sz="2400" dirty="0">
              <a:ln>
                <a:solidFill>
                  <a:schemeClr val="bg1"/>
                </a:solidFill>
              </a:ln>
              <a:blipFill>
                <a:blip r:embed="rId2"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170830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61" y="8093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1470844" y="8093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334" y="1841137"/>
            <a:ext cx="562382" cy="5623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530886" y="184113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222669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906523" y="3231006"/>
            <a:ext cx="2179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Steps of Transaction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984" y="4317125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4530886" y="434289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628" y="5481262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2167070" y="5627150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832A66-EAD9-BADD-22E3-618C081E45CB}"/>
              </a:ext>
            </a:extLst>
          </p:cNvPr>
          <p:cNvSpPr/>
          <p:nvPr/>
        </p:nvSpPr>
        <p:spPr>
          <a:xfrm>
            <a:off x="936704" y="699388"/>
            <a:ext cx="2460731" cy="753442"/>
          </a:xfrm>
          <a:prstGeom prst="round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573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19" grpId="0"/>
      <p:bldP spid="24" grpId="0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16800" cy="1131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64" y="647844"/>
            <a:ext cx="834919" cy="834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5116178" y="855187"/>
            <a:ext cx="2388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6432187"/>
            <a:ext cx="562382" cy="5623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12824552" y="643218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66" y="7773601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0200190" y="7781938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9650" y="8868057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12824552" y="889382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294" y="10032194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0460736" y="1017808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F7B43-1653-A7A5-C981-0C4B45670E72}"/>
              </a:ext>
            </a:extLst>
          </p:cNvPr>
          <p:cNvSpPr txBox="1"/>
          <p:nvPr/>
        </p:nvSpPr>
        <p:spPr>
          <a:xfrm>
            <a:off x="1217865" y="2115724"/>
            <a:ext cx="1005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Blockchain is a revolutionary technology that's transforming industries by providing a new way to secure and verify information without the need for a central authority. Whether it's improving the transparency of supply chains, securing voting systems, or enabling smart contracts, blockchain is reshaping how we think about trust and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147D8-8377-A3ED-EB84-5E15AED032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2302806" y="4229686"/>
            <a:ext cx="1183130" cy="1183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51F261-0CC5-79CF-7DEF-AD692EE1EF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3655355" y="4229980"/>
            <a:ext cx="1183130" cy="1183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F69429-D899-5D90-A99A-016AD72306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4988485" y="4229392"/>
            <a:ext cx="1183130" cy="1183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7144EE-CB4A-372D-8D57-C3773CD855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6341034" y="4229686"/>
            <a:ext cx="1183130" cy="11831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042C73-204B-54DF-6C6F-B7E2133FBF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7717405" y="4214556"/>
            <a:ext cx="1183130" cy="11831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0FAB18-2667-7494-676C-F7227E0758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9069954" y="4214850"/>
            <a:ext cx="1183130" cy="11831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030681-0C5D-DEB5-224E-0739237A33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0000">
            <a:off x="10403084" y="4214262"/>
            <a:ext cx="1183130" cy="118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68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61" y="8093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1470844" y="8093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390" y="1676485"/>
            <a:ext cx="562382" cy="5623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464942" y="167648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356" y="3017899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840580" y="3026236"/>
            <a:ext cx="1631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Steps of Transaction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040" y="4112355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4464942" y="413812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684" y="5276492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2101126" y="5422380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253384-F4DE-77D1-6D62-EC88148C2E4F}"/>
              </a:ext>
            </a:extLst>
          </p:cNvPr>
          <p:cNvSpPr/>
          <p:nvPr/>
        </p:nvSpPr>
        <p:spPr>
          <a:xfrm>
            <a:off x="3635269" y="1530596"/>
            <a:ext cx="2460731" cy="753442"/>
          </a:xfrm>
          <a:prstGeom prst="round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39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0444" y="-1079603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99883" y="750402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-4832300" y="75040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567" y="536097"/>
            <a:ext cx="801342" cy="8013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933946" y="587148"/>
            <a:ext cx="2324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36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11788" y="2958998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-4462564" y="296733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3104" y="4053454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-1838202" y="40792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5460" y="5217591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-4202018" y="5363479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3BBE8-D01D-6ABF-9247-5D748A0B5E6B}"/>
              </a:ext>
            </a:extLst>
          </p:cNvPr>
          <p:cNvSpPr txBox="1"/>
          <p:nvPr/>
        </p:nvSpPr>
        <p:spPr>
          <a:xfrm>
            <a:off x="1973943" y="1956191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>
                <a:solidFill>
                  <a:schemeClr val="bg1"/>
                </a:solidFill>
              </a:rPr>
              <a:t>Blocks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7CECFA-9EF3-FCB6-D483-A3F0B01F8C13}"/>
              </a:ext>
            </a:extLst>
          </p:cNvPr>
          <p:cNvSpPr txBox="1"/>
          <p:nvPr/>
        </p:nvSpPr>
        <p:spPr>
          <a:xfrm>
            <a:off x="1973943" y="2427121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Decentralization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985BDB-F2F7-56AE-835F-88BFA5D7FC60}"/>
              </a:ext>
            </a:extLst>
          </p:cNvPr>
          <p:cNvSpPr txBox="1"/>
          <p:nvPr/>
        </p:nvSpPr>
        <p:spPr>
          <a:xfrm>
            <a:off x="1973943" y="2874709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Cryptography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F0C81C-EF8B-2CCB-1808-E36CF720CAF6}"/>
              </a:ext>
            </a:extLst>
          </p:cNvPr>
          <p:cNvSpPr txBox="1"/>
          <p:nvPr/>
        </p:nvSpPr>
        <p:spPr>
          <a:xfrm>
            <a:off x="1973943" y="3394867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Immutability</a:t>
            </a:r>
          </a:p>
        </p:txBody>
      </p:sp>
    </p:spTree>
    <p:extLst>
      <p:ext uri="{BB962C8B-B14F-4D97-AF65-F5344CB8AC3E}">
        <p14:creationId xmlns:p14="http://schemas.microsoft.com/office/powerpoint/2010/main" val="353000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24625" y="-167011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99883" y="750402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-4832300" y="75040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95" y="414019"/>
            <a:ext cx="969014" cy="96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964046" y="479302"/>
            <a:ext cx="2810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36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11788" y="2958998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-4462564" y="296733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3104" y="4053454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-1838202" y="40792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5460" y="5217591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-4202018" y="5363479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3BBE8-D01D-6ABF-9247-5D748A0B5E6B}"/>
              </a:ext>
            </a:extLst>
          </p:cNvPr>
          <p:cNvSpPr txBox="1"/>
          <p:nvPr/>
        </p:nvSpPr>
        <p:spPr>
          <a:xfrm>
            <a:off x="1956905" y="1458718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>
                <a:solidFill>
                  <a:schemeClr val="bg1"/>
                </a:solidFill>
              </a:rPr>
              <a:t>Blocks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7CECFA-9EF3-FCB6-D483-A3F0B01F8C13}"/>
              </a:ext>
            </a:extLst>
          </p:cNvPr>
          <p:cNvSpPr txBox="1"/>
          <p:nvPr/>
        </p:nvSpPr>
        <p:spPr>
          <a:xfrm>
            <a:off x="1956905" y="2968655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Decentralization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985BDB-F2F7-56AE-835F-88BFA5D7FC60}"/>
              </a:ext>
            </a:extLst>
          </p:cNvPr>
          <p:cNvSpPr txBox="1"/>
          <p:nvPr/>
        </p:nvSpPr>
        <p:spPr>
          <a:xfrm>
            <a:off x="1956905" y="3884821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Cryptography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F0C81C-EF8B-2CCB-1808-E36CF720CAF6}"/>
              </a:ext>
            </a:extLst>
          </p:cNvPr>
          <p:cNvSpPr txBox="1"/>
          <p:nvPr/>
        </p:nvSpPr>
        <p:spPr>
          <a:xfrm>
            <a:off x="1956905" y="5020410"/>
            <a:ext cx="882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bg1"/>
                </a:solidFill>
              </a:rPr>
              <a:t>Immutability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0F50D-2D3D-9A52-1135-5732D482A817}"/>
              </a:ext>
            </a:extLst>
          </p:cNvPr>
          <p:cNvSpPr txBox="1"/>
          <p:nvPr/>
        </p:nvSpPr>
        <p:spPr>
          <a:xfrm>
            <a:off x="2457648" y="1976524"/>
            <a:ext cx="94270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Each block contains a list of transactions or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 unique identifier for each block, generated by a cryptographic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Previous Block Hash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Links the block to the previous one, forming a chain.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C2E1B8-2255-FB4B-DC88-268E06B6736B}"/>
              </a:ext>
            </a:extLst>
          </p:cNvPr>
          <p:cNvSpPr txBox="1"/>
          <p:nvPr/>
        </p:nvSpPr>
        <p:spPr>
          <a:xfrm>
            <a:off x="2653592" y="3484758"/>
            <a:ext cx="8824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No Central Authority</a:t>
            </a:r>
            <a:r>
              <a:rPr lang="en-US" sz="2000" dirty="0">
                <a:solidFill>
                  <a:schemeClr val="bg1"/>
                </a:solidFill>
              </a:rPr>
              <a:t>: Control is shared among all participants in the network.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28F7D-D89F-16C1-FCA9-43665FB08ACE}"/>
              </a:ext>
            </a:extLst>
          </p:cNvPr>
          <p:cNvSpPr txBox="1"/>
          <p:nvPr/>
        </p:nvSpPr>
        <p:spPr>
          <a:xfrm>
            <a:off x="2570135" y="4478359"/>
            <a:ext cx="8824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Public and Private Keys</a:t>
            </a:r>
            <a:r>
              <a:rPr lang="en-US" sz="2000" dirty="0">
                <a:solidFill>
                  <a:schemeClr val="bg1"/>
                </a:solidFill>
              </a:rPr>
              <a:t>: Used to manage access and ownership of blockchain data.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C4CF5F-10D1-A740-D348-E2FDE707C804}"/>
              </a:ext>
            </a:extLst>
          </p:cNvPr>
          <p:cNvSpPr txBox="1"/>
          <p:nvPr/>
        </p:nvSpPr>
        <p:spPr>
          <a:xfrm>
            <a:off x="2588274" y="5699583"/>
            <a:ext cx="88246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Once a block is added to the blockchain, the data it contains cannot be altered or deleted.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104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17" y="407502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997000" y="40750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823" y="1439900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909058" y="1498098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2616098"/>
            <a:ext cx="574326" cy="574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366736" y="2624435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Steps of Transaction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196" y="3710554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991098" y="37363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40" y="4874691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627282" y="5020579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4FA540-6431-3AEE-5A55-97C09868302E}"/>
              </a:ext>
            </a:extLst>
          </p:cNvPr>
          <p:cNvSpPr/>
          <p:nvPr/>
        </p:nvSpPr>
        <p:spPr>
          <a:xfrm>
            <a:off x="582163" y="2599917"/>
            <a:ext cx="2460731" cy="753442"/>
          </a:xfrm>
          <a:prstGeom prst="round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693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6787" y="-1944979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240" y="604410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455549" y="472898"/>
            <a:ext cx="3671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Steps of Transaction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654818" y="220914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685925" y="2755349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685925" y="331132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685925" y="382654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528888" y="412626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8969217" y="3668029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131" y="4717581"/>
            <a:ext cx="952509" cy="95250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9995505" y="5648216"/>
            <a:ext cx="19507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452266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654818" y="220914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685925" y="2755349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685925" y="331132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755935-4DDF-91E5-4FF8-C68583B0A17B}"/>
              </a:ext>
            </a:extLst>
          </p:cNvPr>
          <p:cNvSpPr/>
          <p:nvPr/>
        </p:nvSpPr>
        <p:spPr>
          <a:xfrm>
            <a:off x="-143586" y="-1"/>
            <a:ext cx="14260626" cy="8389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685925" y="382654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528888" y="412626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5422820" y="-1237057"/>
            <a:ext cx="17642444" cy="176424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908" y="2616161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325" y="2629018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50" y="2597905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640671" y="3751313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181600" y="370013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532478" y="3713028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97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654818" y="220914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685925" y="2755349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685925" y="331132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685925" y="3826542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528888" y="412626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A87B94-D83D-F468-DAA5-620C19EFDCD2}"/>
              </a:ext>
            </a:extLst>
          </p:cNvPr>
          <p:cNvSpPr/>
          <p:nvPr/>
        </p:nvSpPr>
        <p:spPr>
          <a:xfrm>
            <a:off x="786999" y="2209148"/>
            <a:ext cx="10243858" cy="30539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998" y="2776479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415" y="2789336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140" y="2758223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668761" y="391163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209690" y="3860453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560568" y="3873346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A821C5E-B9FA-4DD1-9E85-3FAE33B7CFC5}"/>
              </a:ext>
            </a:extLst>
          </p:cNvPr>
          <p:cNvSpPr/>
          <p:nvPr/>
        </p:nvSpPr>
        <p:spPr>
          <a:xfrm>
            <a:off x="2438400" y="2420604"/>
            <a:ext cx="6952343" cy="917682"/>
          </a:xfrm>
          <a:custGeom>
            <a:avLst/>
            <a:gdLst>
              <a:gd name="connsiteX0" fmla="*/ 0 w 7227203"/>
              <a:gd name="connsiteY0" fmla="*/ 917682 h 917682"/>
              <a:gd name="connsiteX1" fmla="*/ 2975429 w 7227203"/>
              <a:gd name="connsiteY1" fmla="*/ 3282 h 917682"/>
              <a:gd name="connsiteX2" fmla="*/ 6836229 w 7227203"/>
              <a:gd name="connsiteY2" fmla="*/ 612882 h 917682"/>
              <a:gd name="connsiteX3" fmla="*/ 6894286 w 7227203"/>
              <a:gd name="connsiteY3" fmla="*/ 641910 h 91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03" h="917682">
                <a:moveTo>
                  <a:pt x="0" y="917682"/>
                </a:moveTo>
                <a:cubicBezTo>
                  <a:pt x="918029" y="485882"/>
                  <a:pt x="1836058" y="54082"/>
                  <a:pt x="2975429" y="3282"/>
                </a:cubicBezTo>
                <a:cubicBezTo>
                  <a:pt x="4114801" y="-47518"/>
                  <a:pt x="6183086" y="506444"/>
                  <a:pt x="6836229" y="612882"/>
                </a:cubicBezTo>
                <a:cubicBezTo>
                  <a:pt x="7489372" y="719320"/>
                  <a:pt x="7191829" y="680615"/>
                  <a:pt x="6894286" y="641910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9AD5991-3988-4F14-9225-AFF99084C81B}"/>
              </a:ext>
            </a:extLst>
          </p:cNvPr>
          <p:cNvSpPr/>
          <p:nvPr/>
        </p:nvSpPr>
        <p:spPr>
          <a:xfrm>
            <a:off x="6081486" y="3788229"/>
            <a:ext cx="3251200" cy="682291"/>
          </a:xfrm>
          <a:custGeom>
            <a:avLst/>
            <a:gdLst>
              <a:gd name="connsiteX0" fmla="*/ 0 w 3251200"/>
              <a:gd name="connsiteY0" fmla="*/ 0 h 682291"/>
              <a:gd name="connsiteX1" fmla="*/ 1669143 w 3251200"/>
              <a:gd name="connsiteY1" fmla="*/ 682171 h 682291"/>
              <a:gd name="connsiteX2" fmla="*/ 3251200 w 3251200"/>
              <a:gd name="connsiteY2" fmla="*/ 43542 h 68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1200" h="682291">
                <a:moveTo>
                  <a:pt x="0" y="0"/>
                </a:moveTo>
                <a:cubicBezTo>
                  <a:pt x="563638" y="337457"/>
                  <a:pt x="1127276" y="674914"/>
                  <a:pt x="1669143" y="682171"/>
                </a:cubicBezTo>
                <a:cubicBezTo>
                  <a:pt x="2211010" y="689428"/>
                  <a:pt x="2731105" y="366485"/>
                  <a:pt x="3251200" y="43542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23C418-4282-BA19-F778-7414F0C2CA89}"/>
              </a:ext>
            </a:extLst>
          </p:cNvPr>
          <p:cNvSpPr txBox="1"/>
          <p:nvPr/>
        </p:nvSpPr>
        <p:spPr>
          <a:xfrm>
            <a:off x="5205835" y="2123758"/>
            <a:ext cx="54182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FE822A-6664-46D5-D832-715382E3C94C}"/>
              </a:ext>
            </a:extLst>
          </p:cNvPr>
          <p:cNvSpPr txBox="1"/>
          <p:nvPr/>
        </p:nvSpPr>
        <p:spPr>
          <a:xfrm>
            <a:off x="7436175" y="4541752"/>
            <a:ext cx="54182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69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846184" y="119027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877291" y="173647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877291" y="229245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877291" y="280767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720254" y="31073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64" y="1757608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781" y="1770465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01" y="1800794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860127" y="289276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410451" y="29030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751934" y="285447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A821C5E-B9FA-4DD1-9E85-3FAE33B7CFC5}"/>
              </a:ext>
            </a:extLst>
          </p:cNvPr>
          <p:cNvSpPr/>
          <p:nvPr/>
        </p:nvSpPr>
        <p:spPr>
          <a:xfrm>
            <a:off x="2629766" y="1401733"/>
            <a:ext cx="6952343" cy="917682"/>
          </a:xfrm>
          <a:custGeom>
            <a:avLst/>
            <a:gdLst>
              <a:gd name="connsiteX0" fmla="*/ 0 w 7227203"/>
              <a:gd name="connsiteY0" fmla="*/ 917682 h 917682"/>
              <a:gd name="connsiteX1" fmla="*/ 2975429 w 7227203"/>
              <a:gd name="connsiteY1" fmla="*/ 3282 h 917682"/>
              <a:gd name="connsiteX2" fmla="*/ 6836229 w 7227203"/>
              <a:gd name="connsiteY2" fmla="*/ 612882 h 917682"/>
              <a:gd name="connsiteX3" fmla="*/ 6894286 w 7227203"/>
              <a:gd name="connsiteY3" fmla="*/ 641910 h 91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03" h="917682">
                <a:moveTo>
                  <a:pt x="0" y="917682"/>
                </a:moveTo>
                <a:cubicBezTo>
                  <a:pt x="918029" y="485882"/>
                  <a:pt x="1836058" y="54082"/>
                  <a:pt x="2975429" y="3282"/>
                </a:cubicBezTo>
                <a:cubicBezTo>
                  <a:pt x="4114801" y="-47518"/>
                  <a:pt x="6183086" y="506444"/>
                  <a:pt x="6836229" y="612882"/>
                </a:cubicBezTo>
                <a:cubicBezTo>
                  <a:pt x="7489372" y="719320"/>
                  <a:pt x="7191829" y="680615"/>
                  <a:pt x="6894286" y="641910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23C418-4282-BA19-F778-7414F0C2CA89}"/>
              </a:ext>
            </a:extLst>
          </p:cNvPr>
          <p:cNvSpPr txBox="1"/>
          <p:nvPr/>
        </p:nvSpPr>
        <p:spPr>
          <a:xfrm>
            <a:off x="5397201" y="988325"/>
            <a:ext cx="54182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59BEA-92A9-FFBD-194D-6C2B1A500925}"/>
              </a:ext>
            </a:extLst>
          </p:cNvPr>
          <p:cNvSpPr/>
          <p:nvPr/>
        </p:nvSpPr>
        <p:spPr>
          <a:xfrm>
            <a:off x="2796161" y="4267982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564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846184" y="119027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877291" y="173647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877291" y="229245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877291" y="280767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720254" y="31073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64" y="1757608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781" y="1770465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01" y="1800794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860127" y="289276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410451" y="29030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751934" y="285447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59BEA-92A9-FFBD-194D-6C2B1A500925}"/>
              </a:ext>
            </a:extLst>
          </p:cNvPr>
          <p:cNvSpPr/>
          <p:nvPr/>
        </p:nvSpPr>
        <p:spPr>
          <a:xfrm>
            <a:off x="3322287" y="4325378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DAE527F-71EC-DF9E-F897-840AA99C9153}"/>
              </a:ext>
            </a:extLst>
          </p:cNvPr>
          <p:cNvSpPr/>
          <p:nvPr/>
        </p:nvSpPr>
        <p:spPr>
          <a:xfrm>
            <a:off x="6070671" y="2551916"/>
            <a:ext cx="3251200" cy="682291"/>
          </a:xfrm>
          <a:custGeom>
            <a:avLst/>
            <a:gdLst>
              <a:gd name="connsiteX0" fmla="*/ 0 w 3251200"/>
              <a:gd name="connsiteY0" fmla="*/ 0 h 682291"/>
              <a:gd name="connsiteX1" fmla="*/ 1669143 w 3251200"/>
              <a:gd name="connsiteY1" fmla="*/ 682171 h 682291"/>
              <a:gd name="connsiteX2" fmla="*/ 3251200 w 3251200"/>
              <a:gd name="connsiteY2" fmla="*/ 43542 h 68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1200" h="682291">
                <a:moveTo>
                  <a:pt x="0" y="0"/>
                </a:moveTo>
                <a:cubicBezTo>
                  <a:pt x="563638" y="337457"/>
                  <a:pt x="1127276" y="674914"/>
                  <a:pt x="1669143" y="682171"/>
                </a:cubicBezTo>
                <a:cubicBezTo>
                  <a:pt x="2211010" y="689428"/>
                  <a:pt x="2731105" y="366485"/>
                  <a:pt x="3251200" y="43542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96C400-2E0A-180C-A185-C3D718FE60ED}"/>
              </a:ext>
            </a:extLst>
          </p:cNvPr>
          <p:cNvSpPr txBox="1"/>
          <p:nvPr/>
        </p:nvSpPr>
        <p:spPr>
          <a:xfrm>
            <a:off x="7425360" y="3305439"/>
            <a:ext cx="54182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412E93-D69D-7B92-086C-7B5E3DA0C6B0}"/>
              </a:ext>
            </a:extLst>
          </p:cNvPr>
          <p:cNvSpPr/>
          <p:nvPr/>
        </p:nvSpPr>
        <p:spPr>
          <a:xfrm>
            <a:off x="6669256" y="4290631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141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846184" y="119027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877291" y="173647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877291" y="229245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877291" y="280767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720254" y="31073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64" y="1757608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781" y="1770465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01" y="1800794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860127" y="289276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410451" y="29030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751934" y="285447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59BEA-92A9-FFBD-194D-6C2B1A500925}"/>
              </a:ext>
            </a:extLst>
          </p:cNvPr>
          <p:cNvSpPr/>
          <p:nvPr/>
        </p:nvSpPr>
        <p:spPr>
          <a:xfrm>
            <a:off x="3322287" y="4325378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412E93-D69D-7B92-086C-7B5E3DA0C6B0}"/>
              </a:ext>
            </a:extLst>
          </p:cNvPr>
          <p:cNvSpPr/>
          <p:nvPr/>
        </p:nvSpPr>
        <p:spPr>
          <a:xfrm>
            <a:off x="6669256" y="4290631"/>
            <a:ext cx="1616194" cy="16324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2A8C0167-2903-C098-E8BF-5200DA2C6621}"/>
              </a:ext>
            </a:extLst>
          </p:cNvPr>
          <p:cNvSpPr/>
          <p:nvPr/>
        </p:nvSpPr>
        <p:spPr>
          <a:xfrm>
            <a:off x="5205835" y="4952098"/>
            <a:ext cx="1234376" cy="23015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41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6174" y="-2149488"/>
            <a:ext cx="17642444" cy="992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" y="-1826603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692200" y="-1826603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023" y="-79420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604258" y="-736007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42" y="593752"/>
            <a:ext cx="937306" cy="9373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4765048" y="723540"/>
            <a:ext cx="266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68" y="6917620"/>
            <a:ext cx="509134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834770" y="6943390"/>
            <a:ext cx="163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12" y="8081757"/>
            <a:ext cx="753442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470954" y="8227645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ABF56-CE21-6167-EF4D-7F56E089BB60}"/>
              </a:ext>
            </a:extLst>
          </p:cNvPr>
          <p:cNvSpPr txBox="1"/>
          <p:nvPr/>
        </p:nvSpPr>
        <p:spPr>
          <a:xfrm>
            <a:off x="1846184" y="1190277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Initiation of a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2D204-AB61-0291-5BBB-4CF95FD40618}"/>
              </a:ext>
            </a:extLst>
          </p:cNvPr>
          <p:cNvSpPr txBox="1"/>
          <p:nvPr/>
        </p:nvSpPr>
        <p:spPr>
          <a:xfrm>
            <a:off x="1877291" y="1736478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Broadcasting the Transaction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6E914-E003-2E0D-D9E7-A43BDAB6C683}"/>
              </a:ext>
            </a:extLst>
          </p:cNvPr>
          <p:cNvSpPr txBox="1"/>
          <p:nvPr/>
        </p:nvSpPr>
        <p:spPr>
          <a:xfrm>
            <a:off x="1877291" y="229245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Validation of the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52F6D-B734-04F8-62E0-F870C40FDD7C}"/>
              </a:ext>
            </a:extLst>
          </p:cNvPr>
          <p:cNvSpPr txBox="1"/>
          <p:nvPr/>
        </p:nvSpPr>
        <p:spPr>
          <a:xfrm>
            <a:off x="1877291" y="2807671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9E7F7-5877-43A9-CE80-DC72772674C9}"/>
              </a:ext>
            </a:extLst>
          </p:cNvPr>
          <p:cNvSpPr txBox="1"/>
          <p:nvPr/>
        </p:nvSpPr>
        <p:spPr>
          <a:xfrm>
            <a:off x="2720254" y="31073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E4727-7D9C-9B25-2C14-2AA46C7D21F7}"/>
              </a:ext>
            </a:extLst>
          </p:cNvPr>
          <p:cNvSpPr txBox="1"/>
          <p:nvPr/>
        </p:nvSpPr>
        <p:spPr>
          <a:xfrm>
            <a:off x="2528888" y="456943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Proof of Stake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72122-4E84-4024-3F89-8A93E4A983C8}"/>
              </a:ext>
            </a:extLst>
          </p:cNvPr>
          <p:cNvSpPr txBox="1"/>
          <p:nvPr/>
        </p:nvSpPr>
        <p:spPr>
          <a:xfrm>
            <a:off x="1685925" y="5124996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Block 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61732-0A01-0F25-EC96-480EEFA97109}"/>
              </a:ext>
            </a:extLst>
          </p:cNvPr>
          <p:cNvSpPr txBox="1"/>
          <p:nvPr/>
        </p:nvSpPr>
        <p:spPr>
          <a:xfrm>
            <a:off x="1685925" y="5716310"/>
            <a:ext cx="8820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Completion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5D66DA-82FE-F0BE-CE59-C3BE868FE5A1}"/>
              </a:ext>
            </a:extLst>
          </p:cNvPr>
          <p:cNvSpPr/>
          <p:nvPr/>
        </p:nvSpPr>
        <p:spPr>
          <a:xfrm>
            <a:off x="12421045" y="3595457"/>
            <a:ext cx="5524500" cy="5524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3FE67-288A-8E7C-740A-D8A0E4E20D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06023-C2A0-4A48-7EA9-F84C93D36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99" y="303917"/>
            <a:ext cx="683833" cy="6838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C2661D-C8C7-8A78-8C53-F7B56181BA1A}"/>
              </a:ext>
            </a:extLst>
          </p:cNvPr>
          <p:cNvSpPr txBox="1"/>
          <p:nvPr/>
        </p:nvSpPr>
        <p:spPr>
          <a:xfrm>
            <a:off x="581769" y="277264"/>
            <a:ext cx="11942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it</a:t>
            </a:r>
          </a:p>
          <a:p>
            <a:pPr algn="ctr"/>
            <a:r>
              <a:rPr lang="en-US" sz="2600" dirty="0"/>
              <a:t>works</a:t>
            </a:r>
            <a:endParaRPr lang="en-IN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AFEFA-8574-43B0-6F6B-8E2A856D7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64" y="1757608"/>
            <a:ext cx="993790" cy="993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39469-44D1-87EA-2821-2068FD2090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781" y="1770465"/>
            <a:ext cx="993790" cy="9937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E435E9-2137-C6F1-65BF-33E7EDBFA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901" y="1800794"/>
            <a:ext cx="994053" cy="994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AC48D9-ABA5-FCEA-174B-30243596B372}"/>
              </a:ext>
            </a:extLst>
          </p:cNvPr>
          <p:cNvSpPr txBox="1"/>
          <p:nvPr/>
        </p:nvSpPr>
        <p:spPr>
          <a:xfrm>
            <a:off x="1860127" y="289276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0C621-60F3-55DC-A3D8-6D53BB2C280F}"/>
              </a:ext>
            </a:extLst>
          </p:cNvPr>
          <p:cNvSpPr txBox="1"/>
          <p:nvPr/>
        </p:nvSpPr>
        <p:spPr>
          <a:xfrm>
            <a:off x="5410451" y="290302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D05437-46F4-06C3-0470-6C2494DD8974}"/>
              </a:ext>
            </a:extLst>
          </p:cNvPr>
          <p:cNvSpPr txBox="1"/>
          <p:nvPr/>
        </p:nvSpPr>
        <p:spPr>
          <a:xfrm>
            <a:off x="9751934" y="285447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  <a:p>
            <a:r>
              <a:rPr lang="en-US" dirty="0"/>
              <a:t>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59BEA-92A9-FFBD-194D-6C2B1A500925}"/>
              </a:ext>
            </a:extLst>
          </p:cNvPr>
          <p:cNvSpPr/>
          <p:nvPr/>
        </p:nvSpPr>
        <p:spPr>
          <a:xfrm>
            <a:off x="422033" y="3768702"/>
            <a:ext cx="996046" cy="16169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412E93-D69D-7B92-086C-7B5E3DA0C6B0}"/>
              </a:ext>
            </a:extLst>
          </p:cNvPr>
          <p:cNvSpPr/>
          <p:nvPr/>
        </p:nvSpPr>
        <p:spPr>
          <a:xfrm>
            <a:off x="2137038" y="3743463"/>
            <a:ext cx="996046" cy="161692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2A8C0167-2903-C098-E8BF-5200DA2C6621}"/>
              </a:ext>
            </a:extLst>
          </p:cNvPr>
          <p:cNvSpPr/>
          <p:nvPr/>
        </p:nvSpPr>
        <p:spPr>
          <a:xfrm>
            <a:off x="1570896" y="4569429"/>
            <a:ext cx="490134" cy="12639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43DD1A-6152-8029-C0AF-508F77D96653}"/>
              </a:ext>
            </a:extLst>
          </p:cNvPr>
          <p:cNvSpPr/>
          <p:nvPr/>
        </p:nvSpPr>
        <p:spPr>
          <a:xfrm>
            <a:off x="4192975" y="3789230"/>
            <a:ext cx="996046" cy="16169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F60D65-CC4A-DD53-F9D4-C8E724534345}"/>
              </a:ext>
            </a:extLst>
          </p:cNvPr>
          <p:cNvSpPr/>
          <p:nvPr/>
        </p:nvSpPr>
        <p:spPr>
          <a:xfrm>
            <a:off x="5907980" y="3763991"/>
            <a:ext cx="996046" cy="161692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9" name="Arrow: Left-Right 38">
            <a:extLst>
              <a:ext uri="{FF2B5EF4-FFF2-40B4-BE49-F238E27FC236}">
                <a16:creationId xmlns:a16="http://schemas.microsoft.com/office/drawing/2014/main" id="{ADEB6BD5-40F4-AE93-108A-A8DFE68A797D}"/>
              </a:ext>
            </a:extLst>
          </p:cNvPr>
          <p:cNvSpPr/>
          <p:nvPr/>
        </p:nvSpPr>
        <p:spPr>
          <a:xfrm>
            <a:off x="5341838" y="4589957"/>
            <a:ext cx="490134" cy="12639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6123F6-B87B-F264-BB0F-3825A80FA7BC}"/>
              </a:ext>
            </a:extLst>
          </p:cNvPr>
          <p:cNvSpPr/>
          <p:nvPr/>
        </p:nvSpPr>
        <p:spPr>
          <a:xfrm>
            <a:off x="8684897" y="3730417"/>
            <a:ext cx="996046" cy="16169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3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41F624-DA7F-AC38-5E82-D3E11AB026CE}"/>
              </a:ext>
            </a:extLst>
          </p:cNvPr>
          <p:cNvSpPr/>
          <p:nvPr/>
        </p:nvSpPr>
        <p:spPr>
          <a:xfrm>
            <a:off x="10399902" y="3705178"/>
            <a:ext cx="996046" cy="161692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-&gt; 1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r>
              <a:rPr lang="en-US" dirty="0">
                <a:solidFill>
                  <a:schemeClr val="tx1"/>
                </a:solidFill>
              </a:rPr>
              <a:t> to 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A:2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B: 2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 ₿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C: 3 </a:t>
            </a:r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₿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10542937-290B-DD06-61B9-A349E2EB8432}"/>
              </a:ext>
            </a:extLst>
          </p:cNvPr>
          <p:cNvSpPr/>
          <p:nvPr/>
        </p:nvSpPr>
        <p:spPr>
          <a:xfrm>
            <a:off x="9833760" y="4531144"/>
            <a:ext cx="490134" cy="126399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56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8" y="14514"/>
            <a:ext cx="12296233" cy="6916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0" y="861182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952193" y="861182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016" y="1893580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3864251" y="1951778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82" y="2809057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565689" y="2938846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603" y="3825057"/>
            <a:ext cx="544882" cy="5091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3929504" y="3850827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47" y="4989194"/>
            <a:ext cx="806344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565688" y="5135082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EEFC3D-A8DB-8324-CEF7-8F01E469C983}"/>
              </a:ext>
            </a:extLst>
          </p:cNvPr>
          <p:cNvSpPr/>
          <p:nvPr/>
        </p:nvSpPr>
        <p:spPr>
          <a:xfrm>
            <a:off x="3226016" y="3709738"/>
            <a:ext cx="2460731" cy="753442"/>
          </a:xfrm>
          <a:prstGeom prst="round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13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15418" y="-2032199"/>
            <a:ext cx="17807418" cy="100166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3875" y="1006324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-4546292" y="10063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2469" y="2038722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-1634234" y="2096920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70103" y="2954199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-3932796" y="3083988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037" y="369462"/>
            <a:ext cx="757172" cy="7074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5223209" y="522960"/>
            <a:ext cx="21545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30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86238" y="5134336"/>
            <a:ext cx="806344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-3932797" y="5280224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D3499-43AC-B1A7-EBCF-8342A51CE9EA}"/>
              </a:ext>
            </a:extLst>
          </p:cNvPr>
          <p:cNvSpPr txBox="1"/>
          <p:nvPr/>
        </p:nvSpPr>
        <p:spPr>
          <a:xfrm>
            <a:off x="1190169" y="2038722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>
                <a:solidFill>
                  <a:schemeClr val="bg1"/>
                </a:solidFill>
              </a:rPr>
              <a:t>Transparency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F9D57-16B7-4D26-EB5D-203814A97766}"/>
              </a:ext>
            </a:extLst>
          </p:cNvPr>
          <p:cNvSpPr txBox="1"/>
          <p:nvPr/>
        </p:nvSpPr>
        <p:spPr>
          <a:xfrm>
            <a:off x="1282896" y="1582448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21226-4314-1CBE-ABB1-D7B2012CD069}"/>
              </a:ext>
            </a:extLst>
          </p:cNvPr>
          <p:cNvSpPr txBox="1"/>
          <p:nvPr/>
        </p:nvSpPr>
        <p:spPr>
          <a:xfrm>
            <a:off x="1224846" y="2534522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Immutability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43D82-4B85-79DC-B3F6-BD4D4D77C37F}"/>
              </a:ext>
            </a:extLst>
          </p:cNvPr>
          <p:cNvSpPr txBox="1"/>
          <p:nvPr/>
        </p:nvSpPr>
        <p:spPr>
          <a:xfrm>
            <a:off x="1224846" y="3083988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2568946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42295" y="-2590623"/>
            <a:ext cx="17726782" cy="9971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3875" y="1006324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-4546292" y="1006324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2469" y="2038722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-1634234" y="2096920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70103" y="2954199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-3932796" y="3083988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037" y="369462"/>
            <a:ext cx="757172" cy="7074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5223209" y="522960"/>
            <a:ext cx="21545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30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86238" y="5134336"/>
            <a:ext cx="806344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-3932797" y="5280224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D3499-43AC-B1A7-EBCF-8342A51CE9EA}"/>
              </a:ext>
            </a:extLst>
          </p:cNvPr>
          <p:cNvSpPr txBox="1"/>
          <p:nvPr/>
        </p:nvSpPr>
        <p:spPr>
          <a:xfrm>
            <a:off x="1349823" y="2793466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Transparency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F9D57-16B7-4D26-EB5D-203814A97766}"/>
              </a:ext>
            </a:extLst>
          </p:cNvPr>
          <p:cNvSpPr txBox="1"/>
          <p:nvPr/>
        </p:nvSpPr>
        <p:spPr>
          <a:xfrm>
            <a:off x="1282896" y="1582448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21226-4314-1CBE-ABB1-D7B2012CD069}"/>
              </a:ext>
            </a:extLst>
          </p:cNvPr>
          <p:cNvSpPr txBox="1"/>
          <p:nvPr/>
        </p:nvSpPr>
        <p:spPr>
          <a:xfrm>
            <a:off x="1384500" y="3927896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Immutability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43D82-4B85-79DC-B3F6-BD4D4D77C37F}"/>
              </a:ext>
            </a:extLst>
          </p:cNvPr>
          <p:cNvSpPr txBox="1"/>
          <p:nvPr/>
        </p:nvSpPr>
        <p:spPr>
          <a:xfrm>
            <a:off x="1384500" y="5174047"/>
            <a:ext cx="865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Efficiency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09E74-15BA-5AB2-8438-E0CB3338FDCD}"/>
              </a:ext>
            </a:extLst>
          </p:cNvPr>
          <p:cNvSpPr txBox="1"/>
          <p:nvPr/>
        </p:nvSpPr>
        <p:spPr>
          <a:xfrm>
            <a:off x="1975231" y="2071870"/>
            <a:ext cx="8650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Data Integrity: Blockchain uses cryptographic techniques to secure data, making it nearly impossible to alter or tamper with once recorded.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73DB0-F2F1-6974-1108-4E89914EF4EF}"/>
              </a:ext>
            </a:extLst>
          </p:cNvPr>
          <p:cNvSpPr txBox="1"/>
          <p:nvPr/>
        </p:nvSpPr>
        <p:spPr>
          <a:xfrm>
            <a:off x="2074897" y="3368596"/>
            <a:ext cx="865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All participants in the network have access to the same data,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20E5B-45F7-CE90-1F8B-892E2E54B638}"/>
              </a:ext>
            </a:extLst>
          </p:cNvPr>
          <p:cNvSpPr txBox="1"/>
          <p:nvPr/>
        </p:nvSpPr>
        <p:spPr>
          <a:xfrm>
            <a:off x="2074897" y="4557802"/>
            <a:ext cx="865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: Once a transaction is recorded in the blockchain, it cannot be altered or deleted,`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2BDBD-13AB-1122-EAC0-DE33619924F8}"/>
              </a:ext>
            </a:extLst>
          </p:cNvPr>
          <p:cNvSpPr txBox="1"/>
          <p:nvPr/>
        </p:nvSpPr>
        <p:spPr>
          <a:xfrm>
            <a:off x="2074897" y="5667874"/>
            <a:ext cx="8650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Faster Transactions: Blockchain can process transactions more quickly by eliminating the need for intermediaries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172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8" y="14514"/>
            <a:ext cx="12296233" cy="691663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B4738-F5BD-FB64-3AC2-78301FF8346E}"/>
              </a:ext>
            </a:extLst>
          </p:cNvPr>
          <p:cNvSpPr/>
          <p:nvPr/>
        </p:nvSpPr>
        <p:spPr>
          <a:xfrm>
            <a:off x="935612" y="4873079"/>
            <a:ext cx="2460731" cy="753442"/>
          </a:xfrm>
          <a:prstGeom prst="round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40" y="745067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1259423" y="74506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246" y="177746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171481" y="1835663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12" y="2692942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872919" y="2822731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82" y="3891455"/>
            <a:ext cx="590990" cy="5522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4171481" y="4037453"/>
            <a:ext cx="2150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8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77" y="4873079"/>
            <a:ext cx="806344" cy="7534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1872918" y="5018967"/>
            <a:ext cx="1745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454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2FE032A-23D3-EEF2-3520-E8B592EBA7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8" y="14514"/>
            <a:ext cx="12296233" cy="6916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88E7E-1444-9472-0C0C-651219340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40" y="745067"/>
            <a:ext cx="562382" cy="5623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D218D1-D059-2AA5-872A-9F5FD4A721AA}"/>
              </a:ext>
            </a:extLst>
          </p:cNvPr>
          <p:cNvSpPr txBox="1"/>
          <p:nvPr/>
        </p:nvSpPr>
        <p:spPr>
          <a:xfrm>
            <a:off x="1259423" y="745067"/>
            <a:ext cx="1631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</a:t>
            </a:r>
            <a:endParaRPr lang="en-IN" sz="24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740DD-A105-ACB4-DAAA-7DC6D5B38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246" y="1777465"/>
            <a:ext cx="552217" cy="552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B7116E-8B22-4AD1-14A9-0D125D97753D}"/>
              </a:ext>
            </a:extLst>
          </p:cNvPr>
          <p:cNvSpPr txBox="1"/>
          <p:nvPr/>
        </p:nvSpPr>
        <p:spPr>
          <a:xfrm>
            <a:off x="4171481" y="1835663"/>
            <a:ext cx="160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Components</a:t>
            </a:r>
            <a:endParaRPr lang="en-IN" sz="24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3AE91-9DF5-4289-0BE8-21C9C9B94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12" y="2692942"/>
            <a:ext cx="716605" cy="7166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BE6FFA-4F4B-DE32-5CFE-C78C98A84A10}"/>
              </a:ext>
            </a:extLst>
          </p:cNvPr>
          <p:cNvSpPr txBox="1"/>
          <p:nvPr/>
        </p:nvSpPr>
        <p:spPr>
          <a:xfrm>
            <a:off x="1872919" y="2822731"/>
            <a:ext cx="203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it Works</a:t>
            </a:r>
            <a:endParaRPr lang="en-IN" sz="2800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36E3E0-FC55-872D-771E-3C7160275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82" y="3891455"/>
            <a:ext cx="590990" cy="5522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312624-FBD2-0C5E-A505-A8A8B32349A1}"/>
              </a:ext>
            </a:extLst>
          </p:cNvPr>
          <p:cNvSpPr txBox="1"/>
          <p:nvPr/>
        </p:nvSpPr>
        <p:spPr>
          <a:xfrm>
            <a:off x="4171481" y="4037453"/>
            <a:ext cx="2150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Advantages</a:t>
            </a:r>
            <a:endParaRPr lang="en-IN" sz="2800" b="1" dirty="0">
              <a:solidFill>
                <a:schemeClr val="bg1"/>
              </a:solidFill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B4738-F5BD-FB64-3AC2-78301FF8346E}"/>
              </a:ext>
            </a:extLst>
          </p:cNvPr>
          <p:cNvSpPr/>
          <p:nvPr/>
        </p:nvSpPr>
        <p:spPr>
          <a:xfrm>
            <a:off x="-819307" y="-328574"/>
            <a:ext cx="15597125" cy="84400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5EED59-241C-3DD9-8D8A-B0E677B95C06}"/>
              </a:ext>
            </a:extLst>
          </p:cNvPr>
          <p:cNvSpPr txBox="1"/>
          <p:nvPr/>
        </p:nvSpPr>
        <p:spPr>
          <a:xfrm>
            <a:off x="6735471" y="953506"/>
            <a:ext cx="3061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Condensed" panose="020B0502040204020203" pitchFamily="34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Conclusion</a:t>
            </a:r>
            <a:endParaRPr lang="en-IN" sz="4000" dirty="0">
              <a:latin typeface="Bahnschrift Condensed" panose="020B0502040204020203" pitchFamily="34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1B95CA-C059-D116-1345-A1B55BE3D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472" y="140742"/>
            <a:ext cx="2308008" cy="21565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0E6782-41AE-E9F7-B7DC-906F683D39C1}"/>
              </a:ext>
            </a:extLst>
          </p:cNvPr>
          <p:cNvSpPr txBox="1"/>
          <p:nvPr/>
        </p:nvSpPr>
        <p:spPr>
          <a:xfrm>
            <a:off x="755011" y="2375459"/>
            <a:ext cx="1113486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"Blockchain technology is more than just a foundation for cryptocurrencies; it is a transformative innovation with the potential to revolutionize industries by enhancing security, transparency, and efficiency. By leveraging decentralized networks, cryptographic security, and immutable records, blockchain creates a trustless environment where data and transactions are securely managed without the need for intermediaries.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776048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859</Words>
  <Application>Microsoft Office PowerPoint</Application>
  <PresentationFormat>Widescreen</PresentationFormat>
  <Paragraphs>276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Algerian</vt:lpstr>
      <vt:lpstr>Arial</vt:lpstr>
      <vt:lpstr>Bahnschrift Condensed</vt:lpstr>
      <vt:lpstr>Calibri</vt:lpstr>
      <vt:lpstr>Calibri Light</vt:lpstr>
      <vt:lpstr>Google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basil mathew</dc:creator>
  <cp:lastModifiedBy>basil mathew</cp:lastModifiedBy>
  <cp:revision>104</cp:revision>
  <dcterms:created xsi:type="dcterms:W3CDTF">2024-08-22T15:39:39Z</dcterms:created>
  <dcterms:modified xsi:type="dcterms:W3CDTF">2024-08-23T03:57:36Z</dcterms:modified>
</cp:coreProperties>
</file>